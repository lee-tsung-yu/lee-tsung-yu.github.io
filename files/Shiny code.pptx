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7" r:id="rId5"/>
    <p:sldId id="259" r:id="rId6"/>
    <p:sldId id="258" r:id="rId7"/>
    <p:sldId id="260" r:id="rId8"/>
    <p:sldId id="261" r:id="rId9"/>
    <p:sldId id="262" r:id="rId10"/>
    <p:sldId id="264" r:id="rId11"/>
    <p:sldId id="265" r:id="rId12"/>
    <p:sldId id="266" r:id="rId13"/>
    <p:sldId id="263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17E105-4318-4F93-9CFA-A7894AD26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C65AA33-B191-DD6C-973D-D150BE266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AFCCA2-0747-193B-4266-74431836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41A1-FF43-4EEC-9EF6-8AF6F445BC2D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BF734D-1808-EA69-6352-F70CBF27C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45E190-E4E4-C886-B0F6-A19D0489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F07A-78DC-4B89-AF42-222AF8780E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319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DE614-E5E3-6C67-EC65-7CE9C965E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858D9A-A0F1-F06F-0136-862C3996C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274A00-2409-77BB-0B00-C7927365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41A1-FF43-4EEC-9EF6-8AF6F445BC2D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0C2AE1F-D39B-3798-920E-D2AC45392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B63898-1779-FC92-3DC9-B52BE27E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F07A-78DC-4B89-AF42-222AF8780E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9925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165069-5E90-8853-BE18-51430713E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11A5E8-2C70-23A5-54F5-9A2C5AF79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C86680-804E-2C51-087B-EF03EA34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41A1-FF43-4EEC-9EF6-8AF6F445BC2D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93F9A7-4E38-3A64-C27E-096BE692C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A35042-8A76-EDF7-EE01-1C8813170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F07A-78DC-4B89-AF42-222AF8780E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692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FEF217-0638-F445-0BE1-C094C4FF9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2D5162-9258-1921-BEA6-4DE287114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26B3577-D1F6-360D-BACC-8EB01ABE6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7FA3C2C-5B6D-47FF-0B06-354C8297F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41A1-FF43-4EEC-9EF6-8AF6F445BC2D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CD7EF24-FD52-5A98-8103-18E2C01D4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DBE13A7-12A6-05D5-2A4F-AD3B9340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F07A-78DC-4B89-AF42-222AF8780E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4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8B2EC6-2B6B-4982-E6DC-A98A3AC77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791082-6EA3-619A-91E7-8AD2CA9A5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BB3242F-C391-1C07-01AA-C89816735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A5DC6D-05D0-5F4E-541B-8A0AA578D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BCE14CD-7715-4E84-2887-FFCF5AA1C6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135F023-98A4-701F-6A3C-4074F3E2A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41A1-FF43-4EEC-9EF6-8AF6F445BC2D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82439C4-304A-3BF4-75B6-633F779F4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512F14A-3BF2-630F-03DD-EB774EA05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F07A-78DC-4B89-AF42-222AF8780E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2986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B3905F-585E-8C54-3E08-9C27F7BA7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3123919-E2FD-4D47-720E-9B185F8C4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41A1-FF43-4EEC-9EF6-8AF6F445BC2D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5C9DF30-7935-EA45-1C11-09B82C3FD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9081114-DA4E-DD3E-8BCA-53DC5395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F07A-78DC-4B89-AF42-222AF8780E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8289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F55324E-59B9-5113-878C-E02B881E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41A1-FF43-4EEC-9EF6-8AF6F445BC2D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7193D9B-8B1C-ACDD-7DBC-9419C6483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0E2694-3733-6D08-D219-CE200BAD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F07A-78DC-4B89-AF42-222AF8780E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806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D8646C-738D-A07E-8D69-E9D5E1900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5C5496-B60A-DD84-DFA8-7346E93B5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B5AEAAE-5AC4-B703-6570-02F6E869D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F12487-A641-0E73-F4ED-D5F03F081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41A1-FF43-4EEC-9EF6-8AF6F445BC2D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025E3D0-8FEB-7AA0-DC0D-FD5655346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B21182C-9154-0416-1FDD-D8979F528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F07A-78DC-4B89-AF42-222AF8780E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512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BBE595-AF37-B1FE-DB63-C665802DD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87CAD92-7D10-F516-0E90-7C108F123F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D3EDB6A-3273-EC00-9D03-9C3F7CAC3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54A19F-5B45-078D-CC2D-F05E227F4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41A1-FF43-4EEC-9EF6-8AF6F445BC2D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811574-FF65-7B65-57ED-918FA6FE4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D4A994-F6B5-9288-6772-C66354292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F07A-78DC-4B89-AF42-222AF8780E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331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89A2C9-A6BE-3274-A2C7-5878943D4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D7B3A8A-1754-756D-1884-D7479EE0F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9EC4F3-7E6F-0863-05F9-F6F5F1AF4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41A1-FF43-4EEC-9EF6-8AF6F445BC2D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56AD52-DD4C-A3FB-0575-B9CA44663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0B08FA-3BBB-1CE8-4B90-A2E97C47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F07A-78DC-4B89-AF42-222AF8780E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9604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C435A83-7C92-232D-37FB-C7B4B36DA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826EEEA-978D-B52D-1BC5-D835435B4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309BB5-D5EA-94EE-C65C-E8D9548D4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41A1-FF43-4EEC-9EF6-8AF6F445BC2D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3E8077-46EF-1925-8777-A1D7DB715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A4B13E-FB89-A3B5-413C-1E19B207A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4F07A-78DC-4B89-AF42-222AF8780E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8790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970C74A-5B2B-3CF6-B480-224C0574D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31A0DB0-784B-9AC7-BD0C-2FCD70ADC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D416218-DADC-68AD-D707-E2893209F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FD41A1-FF43-4EEC-9EF6-8AF6F445BC2D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71B9DD-634D-296D-CC3B-8446B6770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CD74DE-6707-2043-D79B-C7B5C77D98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4F07A-78DC-4B89-AF42-222AF8780E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190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3F6C81CC-C5F4-4002-1736-CEC54F4EE6A2}"/>
              </a:ext>
            </a:extLst>
          </p:cNvPr>
          <p:cNvSpPr/>
          <p:nvPr/>
        </p:nvSpPr>
        <p:spPr>
          <a:xfrm>
            <a:off x="491613" y="422787"/>
            <a:ext cx="8996516" cy="2733368"/>
          </a:xfrm>
          <a:prstGeom prst="round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08DFD4FA-D273-7EF7-645D-2033ED91CED6}"/>
              </a:ext>
            </a:extLst>
          </p:cNvPr>
          <p:cNvCxnSpPr/>
          <p:nvPr/>
        </p:nvCxnSpPr>
        <p:spPr>
          <a:xfrm>
            <a:off x="491613" y="1032388"/>
            <a:ext cx="89965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5A13CDBB-7069-3764-0FAE-4DF3C025A246}"/>
              </a:ext>
            </a:extLst>
          </p:cNvPr>
          <p:cNvSpPr txBox="1"/>
          <p:nvPr/>
        </p:nvSpPr>
        <p:spPr>
          <a:xfrm>
            <a:off x="747252" y="422787"/>
            <a:ext cx="8445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/>
              <a:t>UI</a:t>
            </a:r>
            <a:endParaRPr lang="zh-TW" altLang="en-US" sz="320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A1BDF6E4-062F-F004-187F-3A62BA1C4F04}"/>
              </a:ext>
            </a:extLst>
          </p:cNvPr>
          <p:cNvCxnSpPr>
            <a:cxnSpLocks/>
          </p:cNvCxnSpPr>
          <p:nvPr/>
        </p:nvCxnSpPr>
        <p:spPr>
          <a:xfrm>
            <a:off x="2418735" y="1101590"/>
            <a:ext cx="0" cy="201561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45081E3-AED9-FEC7-35E5-4D7FA957E802}"/>
              </a:ext>
            </a:extLst>
          </p:cNvPr>
          <p:cNvSpPr txBox="1"/>
          <p:nvPr/>
        </p:nvSpPr>
        <p:spPr>
          <a:xfrm>
            <a:off x="491613" y="1457324"/>
            <a:ext cx="1927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zh-TW" sz="1600"/>
              <a:t>page_sidebar()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zh-TW" sz="1600"/>
              <a:t>sidebar()</a:t>
            </a:r>
            <a:endParaRPr lang="zh-TW" altLang="en-US" sz="160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A1B676D-9C47-057B-1D6C-4F2BB68F50A9}"/>
              </a:ext>
            </a:extLst>
          </p:cNvPr>
          <p:cNvSpPr txBox="1"/>
          <p:nvPr/>
        </p:nvSpPr>
        <p:spPr>
          <a:xfrm>
            <a:off x="2536981" y="1457323"/>
            <a:ext cx="3703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zh-TW" sz="1600"/>
              <a:t>titlePanel(“Title”) </a:t>
            </a:r>
            <a:r>
              <a:rPr lang="zh-TW" altLang="en-US" sz="1600"/>
              <a:t>上方標題</a:t>
            </a:r>
            <a:endParaRPr lang="en-US" altLang="zh-TW" sz="1600"/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zh-TW" sz="1600"/>
              <a:t>sidebarLayout() </a:t>
            </a:r>
            <a:r>
              <a:rPr lang="zh-TW" altLang="en-US" sz="1600"/>
              <a:t>旁邊灰色邊域</a:t>
            </a:r>
          </a:p>
        </p:txBody>
      </p:sp>
    </p:spTree>
    <p:extLst>
      <p:ext uri="{BB962C8B-B14F-4D97-AF65-F5344CB8AC3E}">
        <p14:creationId xmlns:p14="http://schemas.microsoft.com/office/powerpoint/2010/main" val="58689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2C476F0-CCFE-B396-A9FB-6822421C7EB7}"/>
              </a:ext>
            </a:extLst>
          </p:cNvPr>
          <p:cNvSpPr txBox="1"/>
          <p:nvPr/>
        </p:nvSpPr>
        <p:spPr>
          <a:xfrm>
            <a:off x="201561" y="186813"/>
            <a:ext cx="117888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>
                <a:solidFill>
                  <a:srgbClr val="FF0000"/>
                </a:solidFill>
              </a:rPr>
              <a:t>sidebarLayout</a:t>
            </a:r>
            <a:r>
              <a:rPr lang="en-US" altLang="zh-TW"/>
              <a:t>: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Create a layout (sidebarLayout()) with a sidebar (sidebarPanel()) and main area (mainPanel()). The sidebar is displayed with a distinct background color and typically contains input controls. The main area occupies 2/3 of the horizontal width and typically contains outputs.</a:t>
            </a:r>
            <a:endParaRPr lang="zh-TW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zh-TW"/>
              <a:t>sidebarPanel</a:t>
            </a:r>
            <a:r>
              <a:rPr lang="en-US" altLang="zh-TW"/>
              <a:t>(..., width = 4) </a:t>
            </a:r>
            <a:endParaRPr lang="en-US" altLang="zh-TW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cs typeface="Arial" panose="020B0604020202020204" pitchFamily="34" charset="0"/>
              </a:rPr>
              <a:t>mainPanel(..., width = 8)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cs typeface="Arial" panose="020B0604020202020204" pitchFamily="34" charset="0"/>
              </a:rPr>
              <a:t>position = </a:t>
            </a:r>
            <a:r>
              <a:rPr lang="zh-TW" altLang="zh-TW"/>
              <a:t>c("left", "right")</a:t>
            </a:r>
            <a:endParaRPr lang="en-US" altLang="zh-TW"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cs typeface="Arial" panose="020B0604020202020204" pitchFamily="34" charset="0"/>
              </a:rPr>
              <a:t>fluid: TRUE(default) or FALSE.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1B79BFA-119C-30D2-03C2-3E17558BE567}"/>
              </a:ext>
            </a:extLst>
          </p:cNvPr>
          <p:cNvSpPr txBox="1"/>
          <p:nvPr/>
        </p:nvSpPr>
        <p:spPr>
          <a:xfrm>
            <a:off x="695632" y="3499381"/>
            <a:ext cx="11135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/>
              <a:t>sidebarLayout</a:t>
            </a:r>
            <a:r>
              <a:rPr lang="en-US" altLang="zh-TW"/>
              <a:t>(</a:t>
            </a:r>
            <a:r>
              <a:rPr lang="zh-TW" altLang="zh-TW"/>
              <a:t>sidebarPanel,</a:t>
            </a:r>
            <a:r>
              <a:rPr lang="en-US" altLang="zh-TW"/>
              <a:t> </a:t>
            </a:r>
            <a:r>
              <a:rPr lang="zh-TW" altLang="zh-TW"/>
              <a:t>mainPanel, position = c("left", "right"), fluid = TRUE</a:t>
            </a:r>
            <a:r>
              <a:rPr lang="en-US" altLang="zh-TW"/>
              <a:t>)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822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732A1-62F8-ABB8-9321-60D4715AF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5D239F8-0CFA-5D35-63E6-F0C47BED722F}"/>
              </a:ext>
            </a:extLst>
          </p:cNvPr>
          <p:cNvSpPr txBox="1"/>
          <p:nvPr/>
        </p:nvSpPr>
        <p:spPr>
          <a:xfrm>
            <a:off x="201561" y="186813"/>
            <a:ext cx="11788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>
                <a:solidFill>
                  <a:srgbClr val="FF0000"/>
                </a:solidFill>
              </a:rPr>
              <a:t>tabsetPanel</a:t>
            </a:r>
            <a:r>
              <a:rPr lang="en-US" altLang="zh-TW">
                <a:solidFill>
                  <a:srgbClr val="FF0000"/>
                </a:solidFill>
              </a:rPr>
              <a:t>: </a:t>
            </a:r>
            <a:r>
              <a:rPr lang="zh-TW" altLang="en-US">
                <a:latin typeface="+mn-ea"/>
              </a:rPr>
              <a:t>建立</a:t>
            </a:r>
            <a:r>
              <a:rPr lang="zh-TW" altLang="zh-TW">
                <a:latin typeface="+mn-ea"/>
              </a:rPr>
              <a:t>一整組分頁系統</a:t>
            </a:r>
            <a:r>
              <a:rPr lang="zh-TW" altLang="en-US">
                <a:latin typeface="+mn-ea"/>
              </a:rPr>
              <a:t> </a:t>
            </a:r>
            <a:r>
              <a:rPr lang="zh-TW" altLang="zh-TW">
                <a:latin typeface="+mn-ea"/>
              </a:rPr>
              <a:t>Create a tabset that contains </a:t>
            </a:r>
            <a:r>
              <a:rPr lang="en-US" altLang="zh-TW">
                <a:latin typeface="+mn-ea"/>
              </a:rPr>
              <a:t>tabPanel() </a:t>
            </a:r>
            <a:r>
              <a:rPr lang="zh-TW" altLang="zh-TW">
                <a:latin typeface="+mn-ea"/>
              </a:rPr>
              <a:t>elements. Tabsets are useful for dividing output into multiple independently viewable sections.</a:t>
            </a:r>
            <a:endParaRPr lang="en-US" altLang="zh-TW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>
                <a:solidFill>
                  <a:srgbClr val="FF0000"/>
                </a:solidFill>
              </a:rPr>
              <a:t>t</a:t>
            </a:r>
            <a:r>
              <a:rPr lang="en-US" altLang="zh-TW">
                <a:solidFill>
                  <a:srgbClr val="FF0000"/>
                </a:solidFill>
              </a:rPr>
              <a:t>abPanel</a:t>
            </a:r>
            <a:r>
              <a:rPr lang="en-US" altLang="zh-TW"/>
              <a:t>:</a:t>
            </a:r>
            <a:r>
              <a:rPr lang="zh-TW" altLang="en-US"/>
              <a:t> 建立一個分頁 </a:t>
            </a:r>
            <a:r>
              <a:rPr lang="en-US" altLang="zh-TW">
                <a:latin typeface="+mn-ea"/>
              </a:rPr>
              <a:t>Create a tab panel.</a:t>
            </a:r>
          </a:p>
        </p:txBody>
      </p:sp>
    </p:spTree>
    <p:extLst>
      <p:ext uri="{BB962C8B-B14F-4D97-AF65-F5344CB8AC3E}">
        <p14:creationId xmlns:p14="http://schemas.microsoft.com/office/powerpoint/2010/main" val="3670218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DD90A7A5-480D-738F-0A66-F8C3335B65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907B18C9-536F-1E39-0E1A-D5B044A4D594}"/>
              </a:ext>
            </a:extLst>
          </p:cNvPr>
          <p:cNvCxnSpPr>
            <a:cxnSpLocks/>
          </p:cNvCxnSpPr>
          <p:nvPr/>
        </p:nvCxnSpPr>
        <p:spPr>
          <a:xfrm>
            <a:off x="137652" y="741909"/>
            <a:ext cx="11978148" cy="7945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43066ED9-7D06-444A-A259-2CABEC4F9EFA}"/>
              </a:ext>
            </a:extLst>
          </p:cNvPr>
          <p:cNvSpPr txBox="1"/>
          <p:nvPr/>
        </p:nvSpPr>
        <p:spPr>
          <a:xfrm>
            <a:off x="760069" y="28625"/>
            <a:ext cx="106718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>
                <a:latin typeface="+mn-ea"/>
              </a:rPr>
              <a:t>Shiny Input</a:t>
            </a:r>
            <a:endParaRPr lang="zh-TW" altLang="en-US" sz="4000">
              <a:latin typeface="+mn-ea"/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09F9772-50DA-753B-922A-4AA52A33FAAC}"/>
              </a:ext>
            </a:extLst>
          </p:cNvPr>
          <p:cNvCxnSpPr>
            <a:cxnSpLocks/>
          </p:cNvCxnSpPr>
          <p:nvPr/>
        </p:nvCxnSpPr>
        <p:spPr>
          <a:xfrm>
            <a:off x="2148700" y="781638"/>
            <a:ext cx="0" cy="607636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4018271E-B74D-D8D4-9838-0C3D77598B53}"/>
              </a:ext>
            </a:extLst>
          </p:cNvPr>
          <p:cNvGrpSpPr/>
          <p:nvPr/>
        </p:nvGrpSpPr>
        <p:grpSpPr>
          <a:xfrm>
            <a:off x="197000" y="861854"/>
            <a:ext cx="2074608" cy="1192640"/>
            <a:chOff x="629263" y="1127320"/>
            <a:chExt cx="2074608" cy="1192640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DF02D6A0-7834-4B52-CC84-569C1B0B8983}"/>
                </a:ext>
              </a:extLst>
            </p:cNvPr>
            <p:cNvSpPr txBox="1"/>
            <p:nvPr/>
          </p:nvSpPr>
          <p:spPr>
            <a:xfrm>
              <a:off x="771833" y="1127320"/>
              <a:ext cx="16518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>
                  <a:latin typeface="+mn-ea"/>
                  <a:cs typeface="Arial" panose="020B0604020202020204" pitchFamily="34" charset="0"/>
                </a:rPr>
                <a:t>文字輸入</a:t>
              </a: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2A621E29-CE93-0083-FF66-B0BCDECBCDB3}"/>
                </a:ext>
              </a:extLst>
            </p:cNvPr>
            <p:cNvSpPr txBox="1"/>
            <p:nvPr/>
          </p:nvSpPr>
          <p:spPr>
            <a:xfrm>
              <a:off x="629263" y="1488963"/>
              <a:ext cx="20746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en-US" altLang="zh-TW" sz="1600"/>
                <a:t>textInput</a:t>
              </a:r>
            </a:p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en-US" altLang="zh-TW" sz="1600"/>
                <a:t>password</a:t>
              </a:r>
              <a:r>
                <a:rPr lang="zh-TW" altLang="zh-TW" sz="1600"/>
                <a:t>Input</a:t>
              </a:r>
              <a:endParaRPr lang="en-US" altLang="zh-TW" sz="1600"/>
            </a:p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en-US" altLang="zh-TW" sz="1600"/>
                <a:t>textAreaInput</a:t>
              </a:r>
              <a:endParaRPr lang="zh-TW" altLang="en-US" sz="1600"/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670BA875-24C6-9DA1-767B-DE30100DC35A}"/>
              </a:ext>
            </a:extLst>
          </p:cNvPr>
          <p:cNvGrpSpPr/>
          <p:nvPr/>
        </p:nvGrpSpPr>
        <p:grpSpPr>
          <a:xfrm>
            <a:off x="2243515" y="855516"/>
            <a:ext cx="2644880" cy="1685082"/>
            <a:chOff x="2841520" y="1135009"/>
            <a:chExt cx="2644880" cy="1685082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34ADBC72-E399-3EDA-6C62-F41923AD2B33}"/>
                </a:ext>
              </a:extLst>
            </p:cNvPr>
            <p:cNvSpPr txBox="1"/>
            <p:nvPr/>
          </p:nvSpPr>
          <p:spPr>
            <a:xfrm>
              <a:off x="3289235" y="1135009"/>
              <a:ext cx="16518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>
                  <a:latin typeface="+mn-ea"/>
                  <a:cs typeface="Arial" panose="020B0604020202020204" pitchFamily="34" charset="0"/>
                </a:rPr>
                <a:t>選擇輸入</a:t>
              </a: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EDD70F2F-2414-0F68-C719-197789ED6A6B}"/>
                </a:ext>
              </a:extLst>
            </p:cNvPr>
            <p:cNvSpPr txBox="1"/>
            <p:nvPr/>
          </p:nvSpPr>
          <p:spPr>
            <a:xfrm>
              <a:off x="2841520" y="1496652"/>
              <a:ext cx="264488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en-US" altLang="zh-TW" sz="1600"/>
                <a:t>selectInput</a:t>
              </a:r>
            </a:p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en-US" altLang="zh-TW" sz="1600"/>
                <a:t>selectizeInput</a:t>
              </a:r>
            </a:p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en-US" altLang="zh-TW" sz="1600"/>
                <a:t>radioButtons</a:t>
              </a:r>
            </a:p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en-US" altLang="zh-TW" sz="1600"/>
                <a:t>checkboxInput</a:t>
              </a:r>
            </a:p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en-US" altLang="zh-TW" sz="1600"/>
                <a:t>checkboxGroupInput</a:t>
              </a:r>
            </a:p>
          </p:txBody>
        </p:sp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FF9A0566-49B6-EFC9-433A-AFCA8159950B}"/>
              </a:ext>
            </a:extLst>
          </p:cNvPr>
          <p:cNvGrpSpPr/>
          <p:nvPr/>
        </p:nvGrpSpPr>
        <p:grpSpPr>
          <a:xfrm>
            <a:off x="4804647" y="855516"/>
            <a:ext cx="2163443" cy="954107"/>
            <a:chOff x="5968181" y="1134112"/>
            <a:chExt cx="2163443" cy="954107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44E1BBED-E947-296C-F998-397A75A96648}"/>
                </a:ext>
              </a:extLst>
            </p:cNvPr>
            <p:cNvSpPr txBox="1"/>
            <p:nvPr/>
          </p:nvSpPr>
          <p:spPr>
            <a:xfrm>
              <a:off x="6179576" y="1134112"/>
              <a:ext cx="16518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>
                  <a:latin typeface="+mn-ea"/>
                  <a:cs typeface="Arial" panose="020B0604020202020204" pitchFamily="34" charset="0"/>
                </a:rPr>
                <a:t>日期輸入</a:t>
              </a: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31D62922-A3A9-DFD1-667E-5004FA42D465}"/>
                </a:ext>
              </a:extLst>
            </p:cNvPr>
            <p:cNvSpPr txBox="1"/>
            <p:nvPr/>
          </p:nvSpPr>
          <p:spPr>
            <a:xfrm>
              <a:off x="5968181" y="1503444"/>
              <a:ext cx="21634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en-US" altLang="zh-TW" sz="1600"/>
                <a:t>dateInput</a:t>
              </a:r>
            </a:p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en-US" altLang="zh-TW" sz="1600"/>
                <a:t>dateRangeInput</a:t>
              </a:r>
            </a:p>
          </p:txBody>
        </p:sp>
      </p:grp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082FE443-A806-C722-7FB1-ED934C5462E1}"/>
              </a:ext>
            </a:extLst>
          </p:cNvPr>
          <p:cNvCxnSpPr>
            <a:cxnSpLocks/>
          </p:cNvCxnSpPr>
          <p:nvPr/>
        </p:nvCxnSpPr>
        <p:spPr>
          <a:xfrm>
            <a:off x="4713163" y="781638"/>
            <a:ext cx="0" cy="607636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FC0F3982-9170-1B67-0A9B-3434C704496A}"/>
              </a:ext>
            </a:extLst>
          </p:cNvPr>
          <p:cNvGrpSpPr/>
          <p:nvPr/>
        </p:nvGrpSpPr>
        <p:grpSpPr>
          <a:xfrm>
            <a:off x="6851159" y="855516"/>
            <a:ext cx="2163443" cy="990298"/>
            <a:chOff x="9925671" y="1790999"/>
            <a:chExt cx="2163443" cy="990298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5C6735C3-17E3-8F63-5F51-0C5E589C8229}"/>
                </a:ext>
              </a:extLst>
            </p:cNvPr>
            <p:cNvSpPr txBox="1"/>
            <p:nvPr/>
          </p:nvSpPr>
          <p:spPr>
            <a:xfrm>
              <a:off x="10048568" y="1790999"/>
              <a:ext cx="16518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>
                  <a:latin typeface="+mn-ea"/>
                  <a:cs typeface="Arial" panose="020B0604020202020204" pitchFamily="34" charset="0"/>
                </a:rPr>
                <a:t>數字輸入</a:t>
              </a: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BC2CA3B9-1A04-999C-F34F-5609D6EAF282}"/>
                </a:ext>
              </a:extLst>
            </p:cNvPr>
            <p:cNvSpPr txBox="1"/>
            <p:nvPr/>
          </p:nvSpPr>
          <p:spPr>
            <a:xfrm>
              <a:off x="9925671" y="2196522"/>
              <a:ext cx="21634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en-US" altLang="zh-TW" sz="1600"/>
                <a:t>numericInput</a:t>
              </a:r>
            </a:p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en-US" altLang="zh-TW" sz="1600"/>
                <a:t>sliderInput</a:t>
              </a:r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85F73194-7B47-D563-1E39-18FCD2864015}"/>
              </a:ext>
            </a:extLst>
          </p:cNvPr>
          <p:cNvGrpSpPr/>
          <p:nvPr/>
        </p:nvGrpSpPr>
        <p:grpSpPr>
          <a:xfrm>
            <a:off x="4815529" y="1983242"/>
            <a:ext cx="2163442" cy="680467"/>
            <a:chOff x="9898984" y="689015"/>
            <a:chExt cx="2163443" cy="680467"/>
          </a:xfrm>
        </p:grpSpPr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A23A7F58-0E3E-85F0-2083-854182E67FD1}"/>
                </a:ext>
              </a:extLst>
            </p:cNvPr>
            <p:cNvSpPr txBox="1"/>
            <p:nvPr/>
          </p:nvSpPr>
          <p:spPr>
            <a:xfrm>
              <a:off x="10118278" y="689015"/>
              <a:ext cx="16518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>
                  <a:latin typeface="+mn-ea"/>
                  <a:cs typeface="Arial" panose="020B0604020202020204" pitchFamily="34" charset="0"/>
                </a:rPr>
                <a:t>檔案輸入</a:t>
              </a: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7FE58274-1551-C10D-B87C-09A6D92D6E7B}"/>
                </a:ext>
              </a:extLst>
            </p:cNvPr>
            <p:cNvSpPr txBox="1"/>
            <p:nvPr/>
          </p:nvSpPr>
          <p:spPr>
            <a:xfrm>
              <a:off x="9898984" y="1030928"/>
              <a:ext cx="21634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en-US" altLang="zh-TW" sz="1600"/>
                <a:t>fileInput</a:t>
              </a:r>
            </a:p>
          </p:txBody>
        </p:sp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7F54B6F5-14FF-1E4E-B294-157D5D6BC8AC}"/>
              </a:ext>
            </a:extLst>
          </p:cNvPr>
          <p:cNvCxnSpPr>
            <a:cxnSpLocks/>
          </p:cNvCxnSpPr>
          <p:nvPr/>
        </p:nvCxnSpPr>
        <p:spPr>
          <a:xfrm flipH="1">
            <a:off x="0" y="3211286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E8B1FF42-3D3E-8B50-7498-38662590E81F}"/>
              </a:ext>
            </a:extLst>
          </p:cNvPr>
          <p:cNvGrpSpPr/>
          <p:nvPr/>
        </p:nvGrpSpPr>
        <p:grpSpPr>
          <a:xfrm>
            <a:off x="6856065" y="1983242"/>
            <a:ext cx="2163443" cy="948575"/>
            <a:chOff x="9890548" y="3716703"/>
            <a:chExt cx="2163443" cy="948575"/>
          </a:xfrm>
        </p:grpSpPr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2B794A3B-A315-41FA-8648-CEAC8B2AD719}"/>
                </a:ext>
              </a:extLst>
            </p:cNvPr>
            <p:cNvSpPr txBox="1"/>
            <p:nvPr/>
          </p:nvSpPr>
          <p:spPr>
            <a:xfrm>
              <a:off x="10048567" y="3716703"/>
              <a:ext cx="16518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>
                  <a:latin typeface="+mn-ea"/>
                  <a:cs typeface="Arial" panose="020B0604020202020204" pitchFamily="34" charset="0"/>
                </a:rPr>
                <a:t>其他輸入</a:t>
              </a: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FE4403E7-BD23-3233-8BC9-DC076B42FB2F}"/>
                </a:ext>
              </a:extLst>
            </p:cNvPr>
            <p:cNvSpPr txBox="1"/>
            <p:nvPr/>
          </p:nvSpPr>
          <p:spPr>
            <a:xfrm>
              <a:off x="9890548" y="4080503"/>
              <a:ext cx="21634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en-US" altLang="zh-TW" sz="1600"/>
                <a:t>actionButton</a:t>
              </a:r>
            </a:p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en-US" altLang="zh-TW" sz="1600"/>
                <a:t>actionLink</a:t>
              </a:r>
            </a:p>
          </p:txBody>
        </p:sp>
      </p:grp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8D8E7502-7FE7-BEAF-D478-45EE9439B0BD}"/>
              </a:ext>
            </a:extLst>
          </p:cNvPr>
          <p:cNvCxnSpPr>
            <a:cxnSpLocks/>
          </p:cNvCxnSpPr>
          <p:nvPr/>
        </p:nvCxnSpPr>
        <p:spPr>
          <a:xfrm>
            <a:off x="6759678" y="781638"/>
            <a:ext cx="0" cy="607636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11A738A5-D40A-CC67-831B-4AF911765434}"/>
              </a:ext>
            </a:extLst>
          </p:cNvPr>
          <p:cNvGrpSpPr/>
          <p:nvPr/>
        </p:nvGrpSpPr>
        <p:grpSpPr>
          <a:xfrm>
            <a:off x="8665902" y="882406"/>
            <a:ext cx="3524158" cy="563224"/>
            <a:chOff x="9933338" y="1783341"/>
            <a:chExt cx="2264130" cy="563224"/>
          </a:xfrm>
        </p:grpSpPr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F14B0D7A-7FDA-171A-9768-A2BC71AE2D27}"/>
                </a:ext>
              </a:extLst>
            </p:cNvPr>
            <p:cNvSpPr txBox="1"/>
            <p:nvPr/>
          </p:nvSpPr>
          <p:spPr>
            <a:xfrm>
              <a:off x="10231825" y="1783341"/>
              <a:ext cx="16518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>
                  <a:latin typeface="+mn-ea"/>
                  <a:cs typeface="Arial" panose="020B0604020202020204" pitchFamily="34" charset="0"/>
                </a:rPr>
                <a:t>顏色輸入</a:t>
              </a: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2699EDF8-45F1-D329-2ACF-2C2C7C069658}"/>
                </a:ext>
              </a:extLst>
            </p:cNvPr>
            <p:cNvSpPr txBox="1"/>
            <p:nvPr/>
          </p:nvSpPr>
          <p:spPr>
            <a:xfrm>
              <a:off x="9933338" y="2038788"/>
              <a:ext cx="22641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zh-TW" altLang="zh-TW" sz="1400">
                  <a:solidFill>
                    <a:srgbClr val="FF0000"/>
                  </a:solidFill>
                </a:rPr>
                <a:t>colourpicker</a:t>
              </a:r>
              <a:r>
                <a:rPr lang="en-US" altLang="zh-TW" sz="1400"/>
                <a:t>::colourInput</a:t>
              </a:r>
            </a:p>
          </p:txBody>
        </p: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0BBD9132-7264-4E9D-81FF-E6EAD6A1362C}"/>
              </a:ext>
            </a:extLst>
          </p:cNvPr>
          <p:cNvGrpSpPr/>
          <p:nvPr/>
        </p:nvGrpSpPr>
        <p:grpSpPr>
          <a:xfrm>
            <a:off x="8665902" y="1519829"/>
            <a:ext cx="3228051" cy="540838"/>
            <a:chOff x="9925670" y="1824703"/>
            <a:chExt cx="2264130" cy="540838"/>
          </a:xfrm>
        </p:grpSpPr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B075AF8D-ABC4-1CCF-4C25-45DC3C14A7C5}"/>
                </a:ext>
              </a:extLst>
            </p:cNvPr>
            <p:cNvSpPr txBox="1"/>
            <p:nvPr/>
          </p:nvSpPr>
          <p:spPr>
            <a:xfrm>
              <a:off x="10327296" y="1824703"/>
              <a:ext cx="16518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>
                  <a:latin typeface="+mn-ea"/>
                  <a:cs typeface="Arial" panose="020B0604020202020204" pitchFamily="34" charset="0"/>
                </a:rPr>
                <a:t>時間輸入</a:t>
              </a:r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74D977A4-39E0-F61F-D2FD-451F5748BAFC}"/>
                </a:ext>
              </a:extLst>
            </p:cNvPr>
            <p:cNvSpPr txBox="1"/>
            <p:nvPr/>
          </p:nvSpPr>
          <p:spPr>
            <a:xfrm>
              <a:off x="9925670" y="2057764"/>
              <a:ext cx="22641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en-US" altLang="zh-TW" sz="1400">
                  <a:solidFill>
                    <a:srgbClr val="FF0000"/>
                  </a:solidFill>
                </a:rPr>
                <a:t>shinyTime</a:t>
              </a:r>
              <a:r>
                <a:rPr lang="en-US" altLang="zh-TW" sz="1400"/>
                <a:t>::timeInput</a:t>
              </a:r>
            </a:p>
          </p:txBody>
        </p:sp>
      </p:grp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C8818462-4E6B-18C1-E045-0BBF89FD5F97}"/>
              </a:ext>
            </a:extLst>
          </p:cNvPr>
          <p:cNvGrpSpPr/>
          <p:nvPr/>
        </p:nvGrpSpPr>
        <p:grpSpPr>
          <a:xfrm>
            <a:off x="8669256" y="2219625"/>
            <a:ext cx="3446544" cy="567154"/>
            <a:chOff x="2841523" y="1148112"/>
            <a:chExt cx="3557860" cy="567154"/>
          </a:xfrm>
        </p:grpSpPr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AC6FEAB8-ADC9-0595-B485-C3D073C63FFC}"/>
                </a:ext>
              </a:extLst>
            </p:cNvPr>
            <p:cNvSpPr txBox="1"/>
            <p:nvPr/>
          </p:nvSpPr>
          <p:spPr>
            <a:xfrm>
              <a:off x="3832143" y="1148112"/>
              <a:ext cx="16518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>
                  <a:latin typeface="+mn-ea"/>
                  <a:cs typeface="Arial" panose="020B0604020202020204" pitchFamily="34" charset="0"/>
                </a:rPr>
                <a:t>選擇輸入</a:t>
              </a: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55616424-5F56-5DE9-5D48-A2DA7CD3DFFD}"/>
                </a:ext>
              </a:extLst>
            </p:cNvPr>
            <p:cNvSpPr txBox="1"/>
            <p:nvPr/>
          </p:nvSpPr>
          <p:spPr>
            <a:xfrm>
              <a:off x="2841523" y="1407489"/>
              <a:ext cx="35578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000" indent="-180000">
                <a:buFont typeface="Arial" panose="020B0604020202020204" pitchFamily="34" charset="0"/>
                <a:buChar char="•"/>
              </a:pPr>
              <a:r>
                <a:rPr lang="zh-TW" altLang="zh-TW" sz="1400">
                  <a:solidFill>
                    <a:srgbClr val="FF0000"/>
                  </a:solidFill>
                </a:rPr>
                <a:t>shinyWidgets</a:t>
              </a:r>
              <a:r>
                <a:rPr lang="en-US" altLang="zh-TW" sz="1400"/>
                <a:t>::pickerInput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897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D5C85-A3F3-C8C7-3470-039B6F764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97E8B36-283F-F183-38A7-77FB08375987}"/>
              </a:ext>
            </a:extLst>
          </p:cNvPr>
          <p:cNvSpPr txBox="1"/>
          <p:nvPr/>
        </p:nvSpPr>
        <p:spPr>
          <a:xfrm>
            <a:off x="196649" y="278749"/>
            <a:ext cx="118675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i="0">
                <a:solidFill>
                  <a:srgbClr val="FF0000"/>
                </a:solidFill>
                <a:effectLst/>
              </a:rPr>
              <a:t>textInput</a:t>
            </a:r>
            <a:r>
              <a:rPr lang="en-US" altLang="zh-TW" i="0">
                <a:solidFill>
                  <a:srgbClr val="000000"/>
                </a:solidFill>
                <a:effectLst/>
              </a:rPr>
              <a:t>:</a:t>
            </a:r>
            <a:r>
              <a:rPr lang="zh-TW" altLang="en-US" i="0">
                <a:solidFill>
                  <a:srgbClr val="000000"/>
                </a:solidFill>
                <a:effectLst/>
              </a:rPr>
              <a:t> </a:t>
            </a:r>
            <a:r>
              <a:rPr lang="zh-TW" altLang="en-US">
                <a:solidFill>
                  <a:srgbClr val="000000"/>
                </a:solidFill>
                <a:latin typeface="Arial" panose="020B0604020202020204" pitchFamily="34" charset="0"/>
              </a:rPr>
              <a:t>單行文字輸入 </a:t>
            </a:r>
            <a:r>
              <a:rPr lang="zh-TW" altLang="zh-TW">
                <a:solidFill>
                  <a:srgbClr val="000000"/>
                </a:solidFill>
                <a:latin typeface="Arial" panose="020B0604020202020204" pitchFamily="34" charset="0"/>
              </a:rPr>
              <a:t>Create an input control for entry of unstructured text values</a:t>
            </a:r>
            <a:r>
              <a:rPr lang="en-US" altLang="zh-TW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inputId: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The input slot that will be used to access the value.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label: </a:t>
            </a:r>
            <a:r>
              <a:rPr lang="zh-TW" altLang="en-US">
                <a:solidFill>
                  <a:srgbClr val="000000"/>
                </a:solidFill>
              </a:rPr>
              <a:t>標題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Display label for the control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value: </a:t>
            </a:r>
            <a:r>
              <a:rPr lang="zh-TW" altLang="en-US">
                <a:solidFill>
                  <a:srgbClr val="000000"/>
                </a:solidFill>
              </a:rPr>
              <a:t>初始值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Initial value.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width = </a:t>
            </a:r>
            <a:r>
              <a:rPr lang="zh-TW" altLang="en-US">
                <a:solidFill>
                  <a:srgbClr val="000000"/>
                </a:solidFill>
              </a:rPr>
              <a:t>輸入格寬度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The width of the input, e.g. 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400px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, or 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(recommended).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placeholder: </a:t>
            </a:r>
            <a:r>
              <a:rPr lang="zh-TW" altLang="en-US">
                <a:solidFill>
                  <a:srgbClr val="000000"/>
                </a:solidFill>
              </a:rPr>
              <a:t>提示詞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A character string giving the user a hint as to what can be entered into the control.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updateOn = c(“change”, “blur”):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A character vector specifying when the input should be updated. Use 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change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” (default)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 to update the input immediately whenever the value changes. Use 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blur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to delay the input update until the input loses focus (the user moves away from the input), or when Enter is pressed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TW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D0377B9-909F-FEFF-0269-141E98BCD3E2}"/>
              </a:ext>
            </a:extLst>
          </p:cNvPr>
          <p:cNvSpPr txBox="1"/>
          <p:nvPr/>
        </p:nvSpPr>
        <p:spPr>
          <a:xfrm>
            <a:off x="521110" y="4220048"/>
            <a:ext cx="9586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/>
              <a:t>textInput</a:t>
            </a:r>
            <a:r>
              <a:rPr lang="zh-TW" altLang="zh-TW"/>
              <a:t>(</a:t>
            </a:r>
            <a:r>
              <a:rPr lang="en-US" altLang="zh-TW"/>
              <a:t>inputId = </a:t>
            </a:r>
            <a:r>
              <a:rPr lang="zh-TW" altLang="zh-TW"/>
              <a:t>"name", </a:t>
            </a:r>
            <a:r>
              <a:rPr lang="en-US" altLang="zh-TW"/>
              <a:t>label = </a:t>
            </a:r>
            <a:r>
              <a:rPr lang="zh-TW" altLang="zh-TW"/>
              <a:t>"Your full name", value = "John Smith")</a:t>
            </a:r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3B7C369-4C51-B0DC-6CEA-94D127922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697" y="4855602"/>
            <a:ext cx="4206605" cy="1089754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63D992B0-F4C3-0555-DF4D-03C17CB514C2}"/>
              </a:ext>
            </a:extLst>
          </p:cNvPr>
          <p:cNvSpPr txBox="1"/>
          <p:nvPr/>
        </p:nvSpPr>
        <p:spPr>
          <a:xfrm>
            <a:off x="521110" y="3429000"/>
            <a:ext cx="309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endParaRPr lang="zh-TW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159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F849DFC-8C42-D212-3EB6-4D26DD72BEE8}"/>
              </a:ext>
            </a:extLst>
          </p:cNvPr>
          <p:cNvSpPr txBox="1"/>
          <p:nvPr/>
        </p:nvSpPr>
        <p:spPr>
          <a:xfrm>
            <a:off x="196649" y="278749"/>
            <a:ext cx="118675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FF0000"/>
                </a:solidFill>
              </a:rPr>
              <a:t>password</a:t>
            </a:r>
            <a:r>
              <a:rPr lang="zh-TW" altLang="zh-TW" i="0">
                <a:solidFill>
                  <a:srgbClr val="FF0000"/>
                </a:solidFill>
                <a:effectLst/>
              </a:rPr>
              <a:t>Input</a:t>
            </a:r>
            <a:r>
              <a:rPr lang="en-US" altLang="zh-TW" i="0">
                <a:solidFill>
                  <a:srgbClr val="000000"/>
                </a:solidFill>
                <a:effectLst/>
              </a:rPr>
              <a:t>:</a:t>
            </a:r>
            <a:r>
              <a:rPr lang="zh-TW" altLang="en-US" i="0">
                <a:solidFill>
                  <a:srgbClr val="000000"/>
                </a:solidFill>
                <a:effectLst/>
              </a:rPr>
              <a:t> 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inputId: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The input slot that will be used to access the value.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label: </a:t>
            </a:r>
            <a:r>
              <a:rPr lang="zh-TW" altLang="en-US">
                <a:solidFill>
                  <a:srgbClr val="000000"/>
                </a:solidFill>
              </a:rPr>
              <a:t>標題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Display label for the control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value: </a:t>
            </a:r>
            <a:r>
              <a:rPr lang="zh-TW" altLang="en-US">
                <a:solidFill>
                  <a:srgbClr val="000000"/>
                </a:solidFill>
              </a:rPr>
              <a:t>初始值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Initial value.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47F21EE-878B-1089-2DB3-866AC780D31C}"/>
              </a:ext>
            </a:extLst>
          </p:cNvPr>
          <p:cNvSpPr txBox="1"/>
          <p:nvPr/>
        </p:nvSpPr>
        <p:spPr>
          <a:xfrm>
            <a:off x="521109" y="4220048"/>
            <a:ext cx="10736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/>
              <a:t>passwordInput</a:t>
            </a:r>
            <a:r>
              <a:rPr lang="zh-TW" altLang="zh-TW"/>
              <a:t>(</a:t>
            </a:r>
            <a:r>
              <a:rPr lang="en-US" altLang="zh-TW"/>
              <a:t>inputId = </a:t>
            </a:r>
            <a:r>
              <a:rPr lang="zh-TW" altLang="zh-TW"/>
              <a:t>"name", </a:t>
            </a:r>
            <a:r>
              <a:rPr lang="en-US" altLang="zh-TW"/>
              <a:t>label = </a:t>
            </a:r>
            <a:r>
              <a:rPr lang="zh-TW" altLang="zh-TW"/>
              <a:t>"Your full name", value = "John Smith")</a:t>
            </a:r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3D81FF6-DAB1-72BC-4A91-E7598010A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697" y="4855602"/>
            <a:ext cx="4206605" cy="1089754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E35D3834-54F9-B2A4-8985-0E1312208FEB}"/>
              </a:ext>
            </a:extLst>
          </p:cNvPr>
          <p:cNvSpPr txBox="1"/>
          <p:nvPr/>
        </p:nvSpPr>
        <p:spPr>
          <a:xfrm>
            <a:off x="521110" y="3429000"/>
            <a:ext cx="309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endParaRPr lang="zh-TW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730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96381-EF4C-F05A-3EFF-1C2230B2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151D571-B839-DB46-2EC8-611AE1E7107A}"/>
              </a:ext>
            </a:extLst>
          </p:cNvPr>
          <p:cNvSpPr txBox="1"/>
          <p:nvPr/>
        </p:nvSpPr>
        <p:spPr>
          <a:xfrm>
            <a:off x="196649" y="278749"/>
            <a:ext cx="118675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FF0000"/>
                </a:solidFill>
              </a:rPr>
              <a:t>textAreaInput</a:t>
            </a:r>
            <a:r>
              <a:rPr lang="en-US" altLang="zh-TW" i="0">
                <a:solidFill>
                  <a:srgbClr val="000000"/>
                </a:solidFill>
                <a:effectLst/>
              </a:rPr>
              <a:t>:</a:t>
            </a:r>
            <a:r>
              <a:rPr lang="zh-TW" altLang="en-US" i="0">
                <a:solidFill>
                  <a:srgbClr val="000000"/>
                </a:solidFill>
                <a:effectLst/>
              </a:rPr>
              <a:t> 多行文字輸入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inputId: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The input slot that will be used to access the value.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label: </a:t>
            </a:r>
            <a:r>
              <a:rPr lang="zh-TW" altLang="en-US">
                <a:solidFill>
                  <a:srgbClr val="000000"/>
                </a:solidFill>
              </a:rPr>
              <a:t>標題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Display label for the control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value: </a:t>
            </a:r>
            <a:r>
              <a:rPr lang="zh-TW" altLang="en-US">
                <a:solidFill>
                  <a:srgbClr val="000000"/>
                </a:solidFill>
              </a:rPr>
              <a:t>初始值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Initial value.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CC66838-B566-5D4D-9062-731C72DF245D}"/>
              </a:ext>
            </a:extLst>
          </p:cNvPr>
          <p:cNvSpPr txBox="1"/>
          <p:nvPr/>
        </p:nvSpPr>
        <p:spPr>
          <a:xfrm>
            <a:off x="521109" y="4220048"/>
            <a:ext cx="10736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textAreaInput</a:t>
            </a:r>
            <a:r>
              <a:rPr lang="zh-TW" altLang="zh-TW"/>
              <a:t>(</a:t>
            </a:r>
            <a:r>
              <a:rPr lang="en-US" altLang="zh-TW"/>
              <a:t>inputId = </a:t>
            </a:r>
            <a:r>
              <a:rPr lang="zh-TW" altLang="zh-TW"/>
              <a:t>"name", </a:t>
            </a:r>
            <a:r>
              <a:rPr lang="en-US" altLang="zh-TW"/>
              <a:t>label = </a:t>
            </a:r>
            <a:r>
              <a:rPr lang="zh-TW" altLang="zh-TW"/>
              <a:t>"Your full name", value = "John Smith")</a:t>
            </a:r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09A9340-1586-25B1-04DD-C0F086385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697" y="4855602"/>
            <a:ext cx="4206605" cy="1089754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A21820AA-D326-D752-83B0-92FA6571800D}"/>
              </a:ext>
            </a:extLst>
          </p:cNvPr>
          <p:cNvSpPr txBox="1"/>
          <p:nvPr/>
        </p:nvSpPr>
        <p:spPr>
          <a:xfrm>
            <a:off x="521110" y="3429000"/>
            <a:ext cx="309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endParaRPr lang="zh-TW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882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BAEEC-72AC-351A-421B-C1910F2A8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FBA40D14-B996-9EDB-E4C2-83528485C334}"/>
              </a:ext>
            </a:extLst>
          </p:cNvPr>
          <p:cNvSpPr txBox="1"/>
          <p:nvPr/>
        </p:nvSpPr>
        <p:spPr>
          <a:xfrm>
            <a:off x="196649" y="278749"/>
            <a:ext cx="118675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FF0000"/>
                </a:solidFill>
              </a:rPr>
              <a:t>fileInput</a:t>
            </a:r>
            <a:r>
              <a:rPr lang="en-US" altLang="zh-TW" i="0">
                <a:solidFill>
                  <a:srgbClr val="000000"/>
                </a:solidFill>
                <a:effectLst/>
              </a:rPr>
              <a:t>:</a:t>
            </a:r>
            <a:r>
              <a:rPr lang="zh-TW" altLang="en-US" i="0">
                <a:solidFill>
                  <a:srgbClr val="000000"/>
                </a:solidFill>
                <a:effectLst/>
              </a:rPr>
              <a:t> 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inputId: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The input slot that will be used to access the value.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label: </a:t>
            </a:r>
            <a:r>
              <a:rPr lang="zh-TW" altLang="en-US">
                <a:solidFill>
                  <a:srgbClr val="000000"/>
                </a:solidFill>
              </a:rPr>
              <a:t>標題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Display label for the control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value: </a:t>
            </a:r>
            <a:r>
              <a:rPr lang="zh-TW" altLang="en-US">
                <a:solidFill>
                  <a:srgbClr val="000000"/>
                </a:solidFill>
              </a:rPr>
              <a:t>初始值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Initial value.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21EB90A-1652-8947-21EA-EFB2AF8E7B36}"/>
              </a:ext>
            </a:extLst>
          </p:cNvPr>
          <p:cNvSpPr txBox="1"/>
          <p:nvPr/>
        </p:nvSpPr>
        <p:spPr>
          <a:xfrm>
            <a:off x="521109" y="4220048"/>
            <a:ext cx="10736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fileInput</a:t>
            </a:r>
            <a:r>
              <a:rPr lang="zh-TW" altLang="zh-TW"/>
              <a:t>(</a:t>
            </a:r>
            <a:r>
              <a:rPr lang="en-US" altLang="zh-TW"/>
              <a:t>inputId = </a:t>
            </a:r>
            <a:r>
              <a:rPr lang="zh-TW" altLang="zh-TW"/>
              <a:t>"name", </a:t>
            </a:r>
            <a:r>
              <a:rPr lang="en-US" altLang="zh-TW"/>
              <a:t>label = </a:t>
            </a:r>
            <a:r>
              <a:rPr lang="zh-TW" altLang="zh-TW"/>
              <a:t>"Your full name", value = "John Smith")</a:t>
            </a:r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EC1CDF0-2F7B-3998-CF8B-715211179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697" y="4855602"/>
            <a:ext cx="4206605" cy="1089754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CE53DA03-D6B9-03A0-076C-55DA07FB3E87}"/>
              </a:ext>
            </a:extLst>
          </p:cNvPr>
          <p:cNvSpPr txBox="1"/>
          <p:nvPr/>
        </p:nvSpPr>
        <p:spPr>
          <a:xfrm>
            <a:off x="521110" y="3429000"/>
            <a:ext cx="309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endParaRPr lang="zh-TW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664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91584-B73A-2264-60D2-9906AA8FE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E5C9E97-906A-531B-CCD4-8E7B313AA44C}"/>
              </a:ext>
            </a:extLst>
          </p:cNvPr>
          <p:cNvSpPr txBox="1"/>
          <p:nvPr/>
        </p:nvSpPr>
        <p:spPr>
          <a:xfrm>
            <a:off x="196649" y="278749"/>
            <a:ext cx="118675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FF0000"/>
                </a:solidFill>
              </a:rPr>
              <a:t>selectInput</a:t>
            </a:r>
            <a:r>
              <a:rPr lang="en-US" altLang="zh-TW" i="0">
                <a:solidFill>
                  <a:srgbClr val="000000"/>
                </a:solidFill>
                <a:effectLst/>
              </a:rPr>
              <a:t>:</a:t>
            </a:r>
            <a:r>
              <a:rPr lang="zh-TW" altLang="en-US" i="0">
                <a:solidFill>
                  <a:srgbClr val="000000"/>
                </a:solidFill>
                <a:effectLst/>
              </a:rPr>
              <a:t> 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inputId: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The input slot that will be used to access the value.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label: </a:t>
            </a:r>
            <a:r>
              <a:rPr lang="zh-TW" altLang="en-US">
                <a:solidFill>
                  <a:srgbClr val="000000"/>
                </a:solidFill>
              </a:rPr>
              <a:t>標題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Display label for the control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value: </a:t>
            </a:r>
            <a:r>
              <a:rPr lang="zh-TW" altLang="en-US">
                <a:solidFill>
                  <a:srgbClr val="000000"/>
                </a:solidFill>
              </a:rPr>
              <a:t>初始值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Initial value.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C3CB37-C489-F12B-25DB-08AAA4230C3F}"/>
              </a:ext>
            </a:extLst>
          </p:cNvPr>
          <p:cNvSpPr txBox="1"/>
          <p:nvPr/>
        </p:nvSpPr>
        <p:spPr>
          <a:xfrm>
            <a:off x="521109" y="4220048"/>
            <a:ext cx="10736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selectInput</a:t>
            </a:r>
            <a:r>
              <a:rPr lang="zh-TW" altLang="zh-TW"/>
              <a:t>(</a:t>
            </a:r>
            <a:r>
              <a:rPr lang="en-US" altLang="zh-TW"/>
              <a:t>inputId = </a:t>
            </a:r>
            <a:r>
              <a:rPr lang="zh-TW" altLang="zh-TW"/>
              <a:t>"name", </a:t>
            </a:r>
            <a:r>
              <a:rPr lang="en-US" altLang="zh-TW"/>
              <a:t>label = </a:t>
            </a:r>
            <a:r>
              <a:rPr lang="zh-TW" altLang="zh-TW"/>
              <a:t>"Your full name", value = "John Smith")</a:t>
            </a:r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52AB2CA-1CA4-B0F8-F7B6-8D200AE77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697" y="4855602"/>
            <a:ext cx="4206605" cy="1089754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581C790A-BA5E-6DC1-6A10-09CCB900C60F}"/>
              </a:ext>
            </a:extLst>
          </p:cNvPr>
          <p:cNvSpPr txBox="1"/>
          <p:nvPr/>
        </p:nvSpPr>
        <p:spPr>
          <a:xfrm>
            <a:off x="521110" y="3429000"/>
            <a:ext cx="309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endParaRPr lang="zh-TW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130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D0109-7A52-1201-C676-A4B5EDBD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D446CD3-07FB-C3E7-748D-42DB12842FC2}"/>
              </a:ext>
            </a:extLst>
          </p:cNvPr>
          <p:cNvSpPr txBox="1"/>
          <p:nvPr/>
        </p:nvSpPr>
        <p:spPr>
          <a:xfrm>
            <a:off x="196649" y="278749"/>
            <a:ext cx="118675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FF0000"/>
                </a:solidFill>
              </a:rPr>
              <a:t>selectizeInput</a:t>
            </a:r>
            <a:r>
              <a:rPr lang="en-US" altLang="zh-TW" i="0">
                <a:solidFill>
                  <a:srgbClr val="000000"/>
                </a:solidFill>
                <a:effectLst/>
              </a:rPr>
              <a:t>:</a:t>
            </a:r>
            <a:r>
              <a:rPr lang="zh-TW" altLang="en-US" i="0">
                <a:solidFill>
                  <a:srgbClr val="000000"/>
                </a:solidFill>
                <a:effectLst/>
              </a:rPr>
              <a:t> 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inputId: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The input slot that will be used to access the value.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label: </a:t>
            </a:r>
            <a:r>
              <a:rPr lang="zh-TW" altLang="en-US">
                <a:solidFill>
                  <a:srgbClr val="000000"/>
                </a:solidFill>
              </a:rPr>
              <a:t>標題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Display label for the control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value: </a:t>
            </a:r>
            <a:r>
              <a:rPr lang="zh-TW" altLang="en-US">
                <a:solidFill>
                  <a:srgbClr val="000000"/>
                </a:solidFill>
              </a:rPr>
              <a:t>初始值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Initial value.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F4322A7-B279-FCCC-C1F9-5D56AC5B0709}"/>
              </a:ext>
            </a:extLst>
          </p:cNvPr>
          <p:cNvSpPr txBox="1"/>
          <p:nvPr/>
        </p:nvSpPr>
        <p:spPr>
          <a:xfrm>
            <a:off x="521109" y="4220048"/>
            <a:ext cx="10736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selectizeInput</a:t>
            </a:r>
            <a:r>
              <a:rPr lang="zh-TW" altLang="zh-TW"/>
              <a:t>(</a:t>
            </a:r>
            <a:r>
              <a:rPr lang="en-US" altLang="zh-TW"/>
              <a:t>inputId = </a:t>
            </a:r>
            <a:r>
              <a:rPr lang="zh-TW" altLang="zh-TW"/>
              <a:t>"name", </a:t>
            </a:r>
            <a:r>
              <a:rPr lang="en-US" altLang="zh-TW"/>
              <a:t>label = </a:t>
            </a:r>
            <a:r>
              <a:rPr lang="zh-TW" altLang="zh-TW"/>
              <a:t>"Your full name", value = "John Smith")</a:t>
            </a:r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9AA0EA3-8DC4-A93C-F1E7-4046AED82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697" y="4855602"/>
            <a:ext cx="4206605" cy="1089754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78B2264A-3973-697F-7A51-AB8FB2A27373}"/>
              </a:ext>
            </a:extLst>
          </p:cNvPr>
          <p:cNvSpPr txBox="1"/>
          <p:nvPr/>
        </p:nvSpPr>
        <p:spPr>
          <a:xfrm>
            <a:off x="521110" y="3429000"/>
            <a:ext cx="309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endParaRPr lang="zh-TW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428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410D7-52B2-9F05-B47C-DFD04D7BF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E0DF1B7-5B82-D538-22EA-333EEF722AD0}"/>
              </a:ext>
            </a:extLst>
          </p:cNvPr>
          <p:cNvSpPr txBox="1"/>
          <p:nvPr/>
        </p:nvSpPr>
        <p:spPr>
          <a:xfrm>
            <a:off x="196649" y="278749"/>
            <a:ext cx="118675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FF0000"/>
                </a:solidFill>
              </a:rPr>
              <a:t>radioButtons</a:t>
            </a:r>
            <a:r>
              <a:rPr lang="en-US" altLang="zh-TW" i="0">
                <a:solidFill>
                  <a:srgbClr val="000000"/>
                </a:solidFill>
                <a:effectLst/>
              </a:rPr>
              <a:t>:</a:t>
            </a:r>
            <a:r>
              <a:rPr lang="zh-TW" altLang="en-US" i="0">
                <a:solidFill>
                  <a:srgbClr val="000000"/>
                </a:solidFill>
                <a:effectLst/>
              </a:rPr>
              <a:t> 單選按鈕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inputId: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The input slot that will be used to access the value.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label: </a:t>
            </a:r>
            <a:r>
              <a:rPr lang="zh-TW" altLang="en-US">
                <a:solidFill>
                  <a:srgbClr val="000000"/>
                </a:solidFill>
              </a:rPr>
              <a:t>標題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Display label for the control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value: </a:t>
            </a:r>
            <a:r>
              <a:rPr lang="zh-TW" altLang="en-US">
                <a:solidFill>
                  <a:srgbClr val="000000"/>
                </a:solidFill>
              </a:rPr>
              <a:t>初始值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Initial value.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424D13-2695-86ED-B341-BFC7F7D91FDF}"/>
              </a:ext>
            </a:extLst>
          </p:cNvPr>
          <p:cNvSpPr txBox="1"/>
          <p:nvPr/>
        </p:nvSpPr>
        <p:spPr>
          <a:xfrm>
            <a:off x="521109" y="4220048"/>
            <a:ext cx="10736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radioButtons</a:t>
            </a:r>
            <a:r>
              <a:rPr lang="zh-TW" altLang="zh-TW"/>
              <a:t>(</a:t>
            </a:r>
            <a:r>
              <a:rPr lang="en-US" altLang="zh-TW"/>
              <a:t>inputId = </a:t>
            </a:r>
            <a:r>
              <a:rPr lang="zh-TW" altLang="zh-TW"/>
              <a:t>"name", </a:t>
            </a:r>
            <a:r>
              <a:rPr lang="en-US" altLang="zh-TW"/>
              <a:t>label = </a:t>
            </a:r>
            <a:r>
              <a:rPr lang="zh-TW" altLang="zh-TW"/>
              <a:t>"Your full name", value = "John Smith")</a:t>
            </a:r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C8087C3-1004-470C-70DF-DAA680B3F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697" y="4855602"/>
            <a:ext cx="4206605" cy="1089754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D03EB10D-7135-FE75-CE80-3D40AC68EA5B}"/>
              </a:ext>
            </a:extLst>
          </p:cNvPr>
          <p:cNvSpPr txBox="1"/>
          <p:nvPr/>
        </p:nvSpPr>
        <p:spPr>
          <a:xfrm>
            <a:off x="521110" y="3429000"/>
            <a:ext cx="309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endParaRPr lang="zh-TW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702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EC2EF-FDAC-5FC0-4370-4B9AF6D5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48A6213-37E5-656C-0FFA-04654134C745}"/>
              </a:ext>
            </a:extLst>
          </p:cNvPr>
          <p:cNvSpPr txBox="1"/>
          <p:nvPr/>
        </p:nvSpPr>
        <p:spPr>
          <a:xfrm>
            <a:off x="196649" y="278749"/>
            <a:ext cx="118675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FF0000"/>
                </a:solidFill>
              </a:rPr>
              <a:t>checkboxGroupInput</a:t>
            </a:r>
            <a:r>
              <a:rPr lang="en-US" altLang="zh-TW" i="0">
                <a:solidFill>
                  <a:srgbClr val="000000"/>
                </a:solidFill>
                <a:effectLst/>
              </a:rPr>
              <a:t>:</a:t>
            </a:r>
            <a:r>
              <a:rPr lang="zh-TW" altLang="en-US" i="0">
                <a:solidFill>
                  <a:srgbClr val="000000"/>
                </a:solidFill>
                <a:effectLst/>
              </a:rPr>
              <a:t> </a:t>
            </a:r>
            <a:r>
              <a:rPr lang="zh-TW" altLang="en-US">
                <a:solidFill>
                  <a:srgbClr val="000000"/>
                </a:solidFill>
              </a:rPr>
              <a:t>多</a:t>
            </a:r>
            <a:r>
              <a:rPr lang="zh-TW" altLang="en-US" i="0">
                <a:solidFill>
                  <a:srgbClr val="000000"/>
                </a:solidFill>
                <a:effectLst/>
              </a:rPr>
              <a:t>選按鈕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inputId: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The input slot that will be used to access the value.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label: </a:t>
            </a:r>
            <a:r>
              <a:rPr lang="zh-TW" altLang="en-US">
                <a:solidFill>
                  <a:srgbClr val="000000"/>
                </a:solidFill>
              </a:rPr>
              <a:t>標題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Display label for the control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>
                <a:solidFill>
                  <a:srgbClr val="000000"/>
                </a:solidFill>
              </a:rPr>
              <a:t>value: </a:t>
            </a:r>
            <a:r>
              <a:rPr lang="zh-TW" altLang="en-US">
                <a:solidFill>
                  <a:srgbClr val="000000"/>
                </a:solidFill>
              </a:rPr>
              <a:t>初始值 </a:t>
            </a:r>
            <a:r>
              <a:rPr lang="zh-TW" altLang="zh-TW">
                <a:latin typeface="Arial" panose="020B0604020202020204" pitchFamily="34" charset="0"/>
                <a:cs typeface="Arial" panose="020B0604020202020204" pitchFamily="34" charset="0"/>
              </a:rPr>
              <a:t>Initial value.</a:t>
            </a:r>
            <a:endParaRPr lang="en-US" altLang="zh-TW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FF7127E-55B3-9CD6-7AD5-5AA726DEE375}"/>
              </a:ext>
            </a:extLst>
          </p:cNvPr>
          <p:cNvSpPr txBox="1"/>
          <p:nvPr/>
        </p:nvSpPr>
        <p:spPr>
          <a:xfrm>
            <a:off x="521109" y="4220048"/>
            <a:ext cx="10736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checkboxGroupInput</a:t>
            </a:r>
            <a:r>
              <a:rPr lang="zh-TW" altLang="zh-TW"/>
              <a:t>(</a:t>
            </a:r>
            <a:r>
              <a:rPr lang="en-US" altLang="zh-TW"/>
              <a:t>inputId = </a:t>
            </a:r>
            <a:r>
              <a:rPr lang="zh-TW" altLang="zh-TW"/>
              <a:t>"name", </a:t>
            </a:r>
            <a:r>
              <a:rPr lang="en-US" altLang="zh-TW"/>
              <a:t>label = </a:t>
            </a:r>
            <a:r>
              <a:rPr lang="zh-TW" altLang="zh-TW"/>
              <a:t>"Your full name", value = "John Smith")</a:t>
            </a:r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DF4075E-6887-A41C-D648-FEE27E49F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697" y="4855602"/>
            <a:ext cx="4206605" cy="1089754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BFC8AB28-CA8E-2D5A-DC67-2DBAADB03234}"/>
              </a:ext>
            </a:extLst>
          </p:cNvPr>
          <p:cNvSpPr txBox="1"/>
          <p:nvPr/>
        </p:nvSpPr>
        <p:spPr>
          <a:xfrm>
            <a:off x="521110" y="3429000"/>
            <a:ext cx="309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endParaRPr lang="zh-TW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275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597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微軟正黑體+Consolas (程式碼)">
      <a:majorFont>
        <a:latin typeface="Consolas"/>
        <a:ea typeface="微軟正黑體"/>
        <a:cs typeface=""/>
      </a:majorFont>
      <a:minorFont>
        <a:latin typeface="Consolas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777</Words>
  <Application>Microsoft Office PowerPoint</Application>
  <PresentationFormat>寬螢幕</PresentationFormat>
  <Paragraphs>92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宗祐 李</dc:creator>
  <cp:lastModifiedBy>宗祐 李</cp:lastModifiedBy>
  <cp:revision>8</cp:revision>
  <dcterms:created xsi:type="dcterms:W3CDTF">2026-06-11T06:09:16Z</dcterms:created>
  <dcterms:modified xsi:type="dcterms:W3CDTF">2026-06-11T14:41:07Z</dcterms:modified>
</cp:coreProperties>
</file>