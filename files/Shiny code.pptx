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0" r:id="rId3"/>
    <p:sldId id="257" r:id="rId4"/>
    <p:sldId id="268" r:id="rId5"/>
    <p:sldId id="267" r:id="rId6"/>
    <p:sldId id="269" r:id="rId7"/>
    <p:sldId id="259" r:id="rId8"/>
    <p:sldId id="258" r:id="rId9"/>
    <p:sldId id="260" r:id="rId10"/>
    <p:sldId id="261" r:id="rId11"/>
    <p:sldId id="262" r:id="rId12"/>
    <p:sldId id="264" r:id="rId13"/>
    <p:sldId id="265" r:id="rId14"/>
    <p:sldId id="266" r:id="rId15"/>
    <p:sldId id="263" r:id="rId16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617E105-4318-4F93-9CFA-A7894AD26E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3C65AA33-B191-DD6C-973D-D150BE26656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CAFCCA2-0747-193B-4266-7443183695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FD41A1-FF43-4EEC-9EF6-8AF6F445BC2D}" type="datetimeFigureOut">
              <a:rPr lang="zh-TW" altLang="en-US" smtClean="0"/>
              <a:t>2026/6/12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CBF734D-1808-EA69-6352-F70CBF27C6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945E190-E4E4-C886-B0F6-A19D0489F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A4F07A-78DC-4B89-AF42-222AF8780E1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131923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E6DE614-E5E3-6C67-EC65-7CE9C965EF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9858D9A-A0F1-F06F-0136-862C3996CD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22274A00-2409-77BB-0B00-C7927365FB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FD41A1-FF43-4EEC-9EF6-8AF6F445BC2D}" type="datetimeFigureOut">
              <a:rPr lang="zh-TW" altLang="en-US" smtClean="0"/>
              <a:t>2026/6/12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E0C2AE1F-D39B-3798-920E-D2AC45392C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3B63898-1779-FC92-3DC9-B52BE27EA6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A4F07A-78DC-4B89-AF42-222AF8780E1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699258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F165069-5E90-8853-BE18-51430713E9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D711A5E8-2C70-23A5-54F5-9A2C5AF797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42C86680-804E-2C51-087B-EF03EA34FD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FD41A1-FF43-4EEC-9EF6-8AF6F445BC2D}" type="datetimeFigureOut">
              <a:rPr lang="zh-TW" altLang="en-US" smtClean="0"/>
              <a:t>2026/6/12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493F9A7-4E38-3A64-C27E-096BE692C1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3FA35042-8A76-EDF7-EE01-1C8813170B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A4F07A-78DC-4B89-AF42-222AF8780E1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269279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EFEF217-0638-F445-0BE1-C094C4FF98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12D5162-9258-1921-BEA6-4DE28711441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C26B3577-D1F6-360D-BACC-8EB01ABE64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E7FA3C2C-5B6D-47FF-0B06-354C8297FB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FD41A1-FF43-4EEC-9EF6-8AF6F445BC2D}" type="datetimeFigureOut">
              <a:rPr lang="zh-TW" altLang="en-US" smtClean="0"/>
              <a:t>2026/6/12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CCD7EF24-FD52-5A98-8103-18E2C01D42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7DBE13A7-12A6-05D5-2A4F-AD3B9340F7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A4F07A-78DC-4B89-AF42-222AF8780E1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95472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F8B2EC6-2B6B-4982-E6DC-A98A3AC77B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03791082-6EA3-619A-91E7-8AD2CA9A57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1BB3242F-C391-1C07-01AA-C898167350C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05A5DC6D-05D0-5F4E-541B-8A0AA578D0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BBCE14CD-7715-4E84-2887-FFCF5AA1C65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9135F023-98A4-701F-6A3C-4074F3E2A8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FD41A1-FF43-4EEC-9EF6-8AF6F445BC2D}" type="datetimeFigureOut">
              <a:rPr lang="zh-TW" altLang="en-US" smtClean="0"/>
              <a:t>2026/6/12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B82439C4-304A-3BF4-75B6-633F779F48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7512F14A-3BF2-630F-03DD-EB774EA053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A4F07A-78DC-4B89-AF42-222AF8780E1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129862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9B3905F-585E-8C54-3E08-9C27F7BA7A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E3123919-E2FD-4D47-720E-9B185F8C43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FD41A1-FF43-4EEC-9EF6-8AF6F445BC2D}" type="datetimeFigureOut">
              <a:rPr lang="zh-TW" altLang="en-US" smtClean="0"/>
              <a:t>2026/6/12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95C9DF30-7935-EA45-1C11-09B82C3FD3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79081114-DA4E-DD3E-8BCA-53DC5395E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A4F07A-78DC-4B89-AF42-222AF8780E1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382894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CF55324E-59B9-5113-878C-E02B881E61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FD41A1-FF43-4EEC-9EF6-8AF6F445BC2D}" type="datetimeFigureOut">
              <a:rPr lang="zh-TW" altLang="en-US" smtClean="0"/>
              <a:t>2026/6/12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47193D9B-8B1C-ACDD-7DBC-9419C64838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30E2694-3733-6D08-D219-CE200BADBF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A4F07A-78DC-4B89-AF42-222AF8780E1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580662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CD8646C-738D-A07E-8D69-E9D5E19003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75C5496-B60A-DD84-DFA8-7346E93B5F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6B5AEAAE-5AC4-B703-6570-02F6E869D5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2EF12487-A641-0E73-F4ED-D5F03F0818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FD41A1-FF43-4EEC-9EF6-8AF6F445BC2D}" type="datetimeFigureOut">
              <a:rPr lang="zh-TW" altLang="en-US" smtClean="0"/>
              <a:t>2026/6/12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E025E3D0-8FEB-7AA0-DC0D-FD56553461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CB21182C-9154-0416-1FDD-D8979F5282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A4F07A-78DC-4B89-AF42-222AF8780E1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675128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7BBE595-AF37-B1FE-DB63-C665802DDC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787CAD92-7D10-F516-0E90-7C108F123FF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FD3EDB6A-3273-EC00-9D03-9C3F7CAC3E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B354A19F-5B45-078D-CC2D-F05E227F42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FD41A1-FF43-4EEC-9EF6-8AF6F445BC2D}" type="datetimeFigureOut">
              <a:rPr lang="zh-TW" altLang="en-US" smtClean="0"/>
              <a:t>2026/6/12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2E811574-FF65-7B65-57ED-918FA6FE44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25D4A994-F6B5-9288-6772-C663542926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A4F07A-78DC-4B89-AF42-222AF8780E1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13313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789A2C9-A6BE-3274-A2C7-5878943D45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6D7B3A8A-1754-756D-1884-D7479EE0F2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09EC4F3-7E6F-0863-05F9-F6F5F1AF4E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FD41A1-FF43-4EEC-9EF6-8AF6F445BC2D}" type="datetimeFigureOut">
              <a:rPr lang="zh-TW" altLang="en-US" smtClean="0"/>
              <a:t>2026/6/12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0456AD52-DD4C-A3FB-0575-B9CA44663E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90B08FA-3BBB-1CE8-4B90-A2E97C4779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A4F07A-78DC-4B89-AF42-222AF8780E1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996044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BC435A83-7C92-232D-37FB-C7B4B36DA5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1826EEEA-978D-B52D-1BC5-D835435B4A9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F309BB5-D5EA-94EE-C65C-E8D9548D49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FD41A1-FF43-4EEC-9EF6-8AF6F445BC2D}" type="datetimeFigureOut">
              <a:rPr lang="zh-TW" altLang="en-US" smtClean="0"/>
              <a:t>2026/6/12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4F3E8077-46EF-1925-8777-A1D7DB715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FA4B13E-FB89-A3B5-413C-1E19B207A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A4F07A-78DC-4B89-AF42-222AF8780E1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87906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0970C74A-5B2B-3CF6-B480-224C0574D0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331A0DB0-784B-9AC7-BD0C-2FCD70ADC8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CD416218-DADC-68AD-D707-E2893209F92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CFD41A1-FF43-4EEC-9EF6-8AF6F445BC2D}" type="datetimeFigureOut">
              <a:rPr lang="zh-TW" altLang="en-US" smtClean="0"/>
              <a:t>2026/6/12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0871B9DD-634D-296D-CC3B-8446B6770BA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4CD74DE-6707-2043-D79B-C7B5C77D98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EA4F07A-78DC-4B89-AF42-222AF8780E1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619062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: 圓角 3">
            <a:extLst>
              <a:ext uri="{FF2B5EF4-FFF2-40B4-BE49-F238E27FC236}">
                <a16:creationId xmlns:a16="http://schemas.microsoft.com/office/drawing/2014/main" id="{3F6C81CC-C5F4-4002-1736-CEC54F4EE6A2}"/>
              </a:ext>
            </a:extLst>
          </p:cNvPr>
          <p:cNvSpPr/>
          <p:nvPr/>
        </p:nvSpPr>
        <p:spPr>
          <a:xfrm>
            <a:off x="491613" y="422787"/>
            <a:ext cx="8996516" cy="2733368"/>
          </a:xfrm>
          <a:prstGeom prst="roundRect">
            <a:avLst/>
          </a:prstGeom>
          <a:solidFill>
            <a:schemeClr val="bg2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08DFD4FA-D273-7EF7-645D-2033ED91CED6}"/>
              </a:ext>
            </a:extLst>
          </p:cNvPr>
          <p:cNvCxnSpPr/>
          <p:nvPr/>
        </p:nvCxnSpPr>
        <p:spPr>
          <a:xfrm>
            <a:off x="491613" y="1032388"/>
            <a:ext cx="8996516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文字方塊 6">
            <a:extLst>
              <a:ext uri="{FF2B5EF4-FFF2-40B4-BE49-F238E27FC236}">
                <a16:creationId xmlns:a16="http://schemas.microsoft.com/office/drawing/2014/main" id="{5A13CDBB-7069-3764-0FAE-4DF3C025A246}"/>
              </a:ext>
            </a:extLst>
          </p:cNvPr>
          <p:cNvSpPr txBox="1"/>
          <p:nvPr/>
        </p:nvSpPr>
        <p:spPr>
          <a:xfrm>
            <a:off x="747252" y="422787"/>
            <a:ext cx="844590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3200"/>
              <a:t>UI</a:t>
            </a:r>
            <a:endParaRPr lang="zh-TW" altLang="en-US" sz="3200"/>
          </a:p>
        </p:txBody>
      </p:sp>
      <p:cxnSp>
        <p:nvCxnSpPr>
          <p:cNvPr id="9" name="直線接點 8">
            <a:extLst>
              <a:ext uri="{FF2B5EF4-FFF2-40B4-BE49-F238E27FC236}">
                <a16:creationId xmlns:a16="http://schemas.microsoft.com/office/drawing/2014/main" id="{A1BDF6E4-062F-F004-187F-3A62BA1C4F04}"/>
              </a:ext>
            </a:extLst>
          </p:cNvPr>
          <p:cNvCxnSpPr>
            <a:cxnSpLocks/>
          </p:cNvCxnSpPr>
          <p:nvPr/>
        </p:nvCxnSpPr>
        <p:spPr>
          <a:xfrm>
            <a:off x="2418735" y="1101590"/>
            <a:ext cx="0" cy="2015613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645081E3-AED9-FEC7-35E5-4D7FA957E802}"/>
              </a:ext>
            </a:extLst>
          </p:cNvPr>
          <p:cNvSpPr txBox="1"/>
          <p:nvPr/>
        </p:nvSpPr>
        <p:spPr>
          <a:xfrm>
            <a:off x="491613" y="1457324"/>
            <a:ext cx="192711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80000" indent="-180000">
              <a:buFont typeface="Arial" panose="020B0604020202020204" pitchFamily="34" charset="0"/>
              <a:buChar char="•"/>
            </a:pPr>
            <a:r>
              <a:rPr lang="en-US" altLang="zh-TW" sz="1600"/>
              <a:t>page_sidebar()</a:t>
            </a:r>
          </a:p>
          <a:p>
            <a:pPr marL="180000" indent="-180000">
              <a:buFont typeface="Arial" panose="020B0604020202020204" pitchFamily="34" charset="0"/>
              <a:buChar char="•"/>
            </a:pPr>
            <a:r>
              <a:rPr lang="en-US" altLang="zh-TW" sz="1600"/>
              <a:t>sidebar()</a:t>
            </a:r>
            <a:endParaRPr lang="zh-TW" altLang="en-US" sz="1600"/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0A1B676D-9C47-057B-1D6C-4F2BB68F50A9}"/>
              </a:ext>
            </a:extLst>
          </p:cNvPr>
          <p:cNvSpPr txBox="1"/>
          <p:nvPr/>
        </p:nvSpPr>
        <p:spPr>
          <a:xfrm>
            <a:off x="2536981" y="1457323"/>
            <a:ext cx="370339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80000" indent="-180000">
              <a:buFont typeface="Arial" panose="020B0604020202020204" pitchFamily="34" charset="0"/>
              <a:buChar char="•"/>
            </a:pPr>
            <a:r>
              <a:rPr lang="en-US" altLang="zh-TW" sz="1600"/>
              <a:t>titlePanel(“Title”) </a:t>
            </a:r>
            <a:r>
              <a:rPr lang="zh-TW" altLang="en-US" sz="1600"/>
              <a:t>上方標題</a:t>
            </a:r>
            <a:endParaRPr lang="en-US" altLang="zh-TW" sz="1600"/>
          </a:p>
          <a:p>
            <a:pPr marL="180000" indent="-180000">
              <a:buFont typeface="Arial" panose="020B0604020202020204" pitchFamily="34" charset="0"/>
              <a:buChar char="•"/>
            </a:pPr>
            <a:r>
              <a:rPr lang="en-US" altLang="zh-TW" sz="1600"/>
              <a:t>sidebarLayout() </a:t>
            </a:r>
            <a:r>
              <a:rPr lang="zh-TW" altLang="en-US" sz="1600"/>
              <a:t>旁邊灰色邊域</a:t>
            </a:r>
          </a:p>
        </p:txBody>
      </p:sp>
    </p:spTree>
    <p:extLst>
      <p:ext uri="{BB962C8B-B14F-4D97-AF65-F5344CB8AC3E}">
        <p14:creationId xmlns:p14="http://schemas.microsoft.com/office/powerpoint/2010/main" val="586896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圓角 1">
            <a:extLst>
              <a:ext uri="{FF2B5EF4-FFF2-40B4-BE49-F238E27FC236}">
                <a16:creationId xmlns:a16="http://schemas.microsoft.com/office/drawing/2014/main" id="{6C14FEEA-31FA-82C5-4D88-40D884048989}"/>
              </a:ext>
            </a:extLst>
          </p:cNvPr>
          <p:cNvSpPr/>
          <p:nvPr/>
        </p:nvSpPr>
        <p:spPr>
          <a:xfrm>
            <a:off x="186813" y="186813"/>
            <a:ext cx="3382297" cy="6341806"/>
          </a:xfrm>
          <a:prstGeom prst="round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>
                <a:solidFill>
                  <a:schemeClr val="tx1"/>
                </a:solidFill>
              </a:rPr>
              <a:t>Input Area</a:t>
            </a:r>
            <a:endParaRPr lang="zh-TW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43233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E2C476F0-CCFE-B396-A9FB-6822421C7EB7}"/>
              </a:ext>
            </a:extLst>
          </p:cNvPr>
          <p:cNvSpPr txBox="1"/>
          <p:nvPr/>
        </p:nvSpPr>
        <p:spPr>
          <a:xfrm>
            <a:off x="201561" y="186813"/>
            <a:ext cx="1178887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zh-TW">
                <a:solidFill>
                  <a:srgbClr val="FF0000"/>
                </a:solidFill>
              </a:rPr>
              <a:t>sidebarLayout</a:t>
            </a:r>
            <a:r>
              <a:rPr lang="en-US" altLang="zh-TW"/>
              <a:t>:</a:t>
            </a:r>
            <a:r>
              <a:rPr lang="zh-TW" altLang="zh-TW">
                <a:latin typeface="Arial" panose="020B0604020202020204" pitchFamily="34" charset="0"/>
                <a:cs typeface="Arial" panose="020B0604020202020204" pitchFamily="34" charset="0"/>
              </a:rPr>
              <a:t>Create a layout (sidebarLayout()) with a sidebar (sidebarPanel()) and main area (mainPanel()). The sidebar is displayed with a distinct background color and typically contains input controls. The main area occupies 2/3 of the horizontal width and typically contains outputs.</a:t>
            </a:r>
            <a:endParaRPr lang="zh-TW" altLang="en-US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zh-TW" altLang="zh-TW"/>
              <a:t>sidebarPanel</a:t>
            </a:r>
            <a:r>
              <a:rPr lang="en-US" altLang="zh-TW"/>
              <a:t>(..., width = 4) </a:t>
            </a:r>
            <a:endParaRPr lang="en-US" altLang="zh-TW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>
                <a:cs typeface="Arial" panose="020B0604020202020204" pitchFamily="34" charset="0"/>
              </a:rPr>
              <a:t>mainPanel(..., width = 8)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>
                <a:cs typeface="Arial" panose="020B0604020202020204" pitchFamily="34" charset="0"/>
              </a:rPr>
              <a:t>position = </a:t>
            </a:r>
            <a:r>
              <a:rPr lang="zh-TW" altLang="zh-TW"/>
              <a:t>c("left", "right")</a:t>
            </a:r>
            <a:endParaRPr lang="en-US" altLang="zh-TW">
              <a:cs typeface="Arial" panose="020B0604020202020204" pitchFamily="34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>
                <a:cs typeface="Arial" panose="020B0604020202020204" pitchFamily="34" charset="0"/>
              </a:rPr>
              <a:t>fluid: TRUE(default) or FALSE.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altLang="zh-TW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D1B79BFA-119C-30D2-03C2-3E17558BE567}"/>
              </a:ext>
            </a:extLst>
          </p:cNvPr>
          <p:cNvSpPr txBox="1"/>
          <p:nvPr/>
        </p:nvSpPr>
        <p:spPr>
          <a:xfrm>
            <a:off x="695632" y="3499381"/>
            <a:ext cx="1113503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/>
              <a:t>sidebarLayout</a:t>
            </a:r>
            <a:r>
              <a:rPr lang="en-US" altLang="zh-TW"/>
              <a:t>(</a:t>
            </a:r>
            <a:r>
              <a:rPr lang="zh-TW" altLang="zh-TW"/>
              <a:t>sidebarPanel,</a:t>
            </a:r>
            <a:r>
              <a:rPr lang="en-US" altLang="zh-TW"/>
              <a:t> </a:t>
            </a:r>
            <a:r>
              <a:rPr lang="zh-TW" altLang="zh-TW"/>
              <a:t>mainPanel, position = c("left", "right"), fluid = TRUE</a:t>
            </a:r>
            <a:r>
              <a:rPr lang="en-US" altLang="zh-TW"/>
              <a:t>)</a:t>
            </a: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948227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7732A1-62F8-ABB8-9321-60D4715AF8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C5D239F8-0CFA-5D35-63E6-F0C47BED722F}"/>
              </a:ext>
            </a:extLst>
          </p:cNvPr>
          <p:cNvSpPr txBox="1"/>
          <p:nvPr/>
        </p:nvSpPr>
        <p:spPr>
          <a:xfrm>
            <a:off x="201561" y="186813"/>
            <a:ext cx="1178887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zh-TW">
                <a:solidFill>
                  <a:srgbClr val="FF0000"/>
                </a:solidFill>
              </a:rPr>
              <a:t>tabsetPanel</a:t>
            </a:r>
            <a:r>
              <a:rPr lang="en-US" altLang="zh-TW">
                <a:solidFill>
                  <a:srgbClr val="FF0000"/>
                </a:solidFill>
              </a:rPr>
              <a:t>: </a:t>
            </a:r>
            <a:r>
              <a:rPr lang="zh-TW" altLang="en-US">
                <a:latin typeface="+mn-ea"/>
              </a:rPr>
              <a:t>建立</a:t>
            </a:r>
            <a:r>
              <a:rPr lang="zh-TW" altLang="zh-TW">
                <a:latin typeface="+mn-ea"/>
              </a:rPr>
              <a:t>一整組分頁系統</a:t>
            </a:r>
            <a:r>
              <a:rPr lang="zh-TW" altLang="en-US">
                <a:latin typeface="+mn-ea"/>
              </a:rPr>
              <a:t> </a:t>
            </a:r>
            <a:r>
              <a:rPr lang="zh-TW" altLang="zh-TW">
                <a:latin typeface="+mn-ea"/>
              </a:rPr>
              <a:t>Create a tabset that contains </a:t>
            </a:r>
            <a:r>
              <a:rPr lang="en-US" altLang="zh-TW">
                <a:latin typeface="+mn-ea"/>
              </a:rPr>
              <a:t>tabPanel() </a:t>
            </a:r>
            <a:r>
              <a:rPr lang="zh-TW" altLang="zh-TW">
                <a:latin typeface="+mn-ea"/>
              </a:rPr>
              <a:t>elements. Tabsets are useful for dividing output into multiple independently viewable sections.</a:t>
            </a:r>
            <a:endParaRPr lang="en-US" altLang="zh-TW">
              <a:latin typeface="+mn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zh-TW">
                <a:solidFill>
                  <a:srgbClr val="FF0000"/>
                </a:solidFill>
              </a:rPr>
              <a:t>t</a:t>
            </a:r>
            <a:r>
              <a:rPr lang="en-US" altLang="zh-TW">
                <a:solidFill>
                  <a:srgbClr val="FF0000"/>
                </a:solidFill>
              </a:rPr>
              <a:t>abPanel</a:t>
            </a:r>
            <a:r>
              <a:rPr lang="en-US" altLang="zh-TW"/>
              <a:t>:</a:t>
            </a:r>
            <a:r>
              <a:rPr lang="zh-TW" altLang="en-US"/>
              <a:t> 建立一個分頁 </a:t>
            </a:r>
            <a:r>
              <a:rPr lang="en-US" altLang="zh-TW">
                <a:latin typeface="+mn-ea"/>
              </a:rPr>
              <a:t>Create a tab panel.</a:t>
            </a:r>
          </a:p>
        </p:txBody>
      </p:sp>
    </p:spTree>
    <p:extLst>
      <p:ext uri="{BB962C8B-B14F-4D97-AF65-F5344CB8AC3E}">
        <p14:creationId xmlns:p14="http://schemas.microsoft.com/office/powerpoint/2010/main" val="36702184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圓角 1">
            <a:extLst>
              <a:ext uri="{FF2B5EF4-FFF2-40B4-BE49-F238E27FC236}">
                <a16:creationId xmlns:a16="http://schemas.microsoft.com/office/drawing/2014/main" id="{DD90A7A5-480D-738F-0A66-F8C3335B65D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oundRect">
            <a:avLst/>
          </a:prstGeom>
          <a:solidFill>
            <a:schemeClr val="bg2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3" name="直線接點 2">
            <a:extLst>
              <a:ext uri="{FF2B5EF4-FFF2-40B4-BE49-F238E27FC236}">
                <a16:creationId xmlns:a16="http://schemas.microsoft.com/office/drawing/2014/main" id="{907B18C9-536F-1E39-0E1A-D5B044A4D594}"/>
              </a:ext>
            </a:extLst>
          </p:cNvPr>
          <p:cNvCxnSpPr>
            <a:cxnSpLocks/>
          </p:cNvCxnSpPr>
          <p:nvPr/>
        </p:nvCxnSpPr>
        <p:spPr>
          <a:xfrm>
            <a:off x="137652" y="741909"/>
            <a:ext cx="11978148" cy="79458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文字方塊 3">
            <a:extLst>
              <a:ext uri="{FF2B5EF4-FFF2-40B4-BE49-F238E27FC236}">
                <a16:creationId xmlns:a16="http://schemas.microsoft.com/office/drawing/2014/main" id="{43066ED9-7D06-444A-A259-2CABEC4F9EFA}"/>
              </a:ext>
            </a:extLst>
          </p:cNvPr>
          <p:cNvSpPr txBox="1"/>
          <p:nvPr/>
        </p:nvSpPr>
        <p:spPr>
          <a:xfrm>
            <a:off x="760069" y="28625"/>
            <a:ext cx="1067186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>
                <a:latin typeface="+mn-ea"/>
              </a:rPr>
              <a:t>Shiny Input</a:t>
            </a:r>
            <a:endParaRPr lang="zh-TW" altLang="en-US" sz="4000">
              <a:latin typeface="+mn-ea"/>
            </a:endParaRPr>
          </a:p>
        </p:txBody>
      </p:sp>
      <p:cxnSp>
        <p:nvCxnSpPr>
          <p:cNvPr id="5" name="直線接點 4">
            <a:extLst>
              <a:ext uri="{FF2B5EF4-FFF2-40B4-BE49-F238E27FC236}">
                <a16:creationId xmlns:a16="http://schemas.microsoft.com/office/drawing/2014/main" id="{D09F9772-50DA-753B-922A-4AA52A33FAAC}"/>
              </a:ext>
            </a:extLst>
          </p:cNvPr>
          <p:cNvCxnSpPr>
            <a:cxnSpLocks/>
          </p:cNvCxnSpPr>
          <p:nvPr/>
        </p:nvCxnSpPr>
        <p:spPr>
          <a:xfrm>
            <a:off x="2148700" y="781638"/>
            <a:ext cx="0" cy="6076362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7" name="群組 36">
            <a:extLst>
              <a:ext uri="{FF2B5EF4-FFF2-40B4-BE49-F238E27FC236}">
                <a16:creationId xmlns:a16="http://schemas.microsoft.com/office/drawing/2014/main" id="{4018271E-B74D-D8D4-9838-0C3D77598B53}"/>
              </a:ext>
            </a:extLst>
          </p:cNvPr>
          <p:cNvGrpSpPr/>
          <p:nvPr/>
        </p:nvGrpSpPr>
        <p:grpSpPr>
          <a:xfrm>
            <a:off x="197000" y="861854"/>
            <a:ext cx="2074608" cy="1192640"/>
            <a:chOff x="629263" y="1127320"/>
            <a:chExt cx="2074608" cy="1192640"/>
          </a:xfrm>
        </p:grpSpPr>
        <p:sp>
          <p:nvSpPr>
            <p:cNvPr id="8" name="文字方塊 7">
              <a:extLst>
                <a:ext uri="{FF2B5EF4-FFF2-40B4-BE49-F238E27FC236}">
                  <a16:creationId xmlns:a16="http://schemas.microsoft.com/office/drawing/2014/main" id="{DF02D6A0-7834-4B52-CC84-569C1B0B8983}"/>
                </a:ext>
              </a:extLst>
            </p:cNvPr>
            <p:cNvSpPr txBox="1"/>
            <p:nvPr/>
          </p:nvSpPr>
          <p:spPr>
            <a:xfrm>
              <a:off x="771833" y="1127320"/>
              <a:ext cx="16518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TW" altLang="en-US" sz="1600" b="1">
                  <a:latin typeface="+mn-ea"/>
                  <a:cs typeface="Arial" panose="020B0604020202020204" pitchFamily="34" charset="0"/>
                </a:rPr>
                <a:t>文字輸入</a:t>
              </a:r>
            </a:p>
          </p:txBody>
        </p:sp>
        <p:sp>
          <p:nvSpPr>
            <p:cNvPr id="9" name="文字方塊 8">
              <a:extLst>
                <a:ext uri="{FF2B5EF4-FFF2-40B4-BE49-F238E27FC236}">
                  <a16:creationId xmlns:a16="http://schemas.microsoft.com/office/drawing/2014/main" id="{2A621E29-CE93-0083-FF66-B0BCDECBCDB3}"/>
                </a:ext>
              </a:extLst>
            </p:cNvPr>
            <p:cNvSpPr txBox="1"/>
            <p:nvPr/>
          </p:nvSpPr>
          <p:spPr>
            <a:xfrm>
              <a:off x="629263" y="1488963"/>
              <a:ext cx="2074608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80000" indent="-180000">
                <a:buFont typeface="Arial" panose="020B0604020202020204" pitchFamily="34" charset="0"/>
                <a:buChar char="•"/>
              </a:pPr>
              <a:r>
                <a:rPr lang="en-US" altLang="zh-TW" sz="1600"/>
                <a:t>textInput</a:t>
              </a:r>
            </a:p>
            <a:p>
              <a:pPr marL="180000" indent="-180000">
                <a:buFont typeface="Arial" panose="020B0604020202020204" pitchFamily="34" charset="0"/>
                <a:buChar char="•"/>
              </a:pPr>
              <a:r>
                <a:rPr lang="en-US" altLang="zh-TW" sz="1600"/>
                <a:t>password</a:t>
              </a:r>
              <a:r>
                <a:rPr lang="zh-TW" altLang="zh-TW" sz="1600"/>
                <a:t>Input</a:t>
              </a:r>
              <a:endParaRPr lang="en-US" altLang="zh-TW" sz="1600"/>
            </a:p>
            <a:p>
              <a:pPr marL="180000" indent="-180000">
                <a:buFont typeface="Arial" panose="020B0604020202020204" pitchFamily="34" charset="0"/>
                <a:buChar char="•"/>
              </a:pPr>
              <a:r>
                <a:rPr lang="en-US" altLang="zh-TW" sz="1600"/>
                <a:t>textAreaInput</a:t>
              </a:r>
              <a:endParaRPr lang="zh-TW" altLang="en-US" sz="1600"/>
            </a:p>
          </p:txBody>
        </p:sp>
      </p:grpSp>
      <p:grpSp>
        <p:nvGrpSpPr>
          <p:cNvPr id="38" name="群組 37">
            <a:extLst>
              <a:ext uri="{FF2B5EF4-FFF2-40B4-BE49-F238E27FC236}">
                <a16:creationId xmlns:a16="http://schemas.microsoft.com/office/drawing/2014/main" id="{670BA875-24C6-9DA1-767B-DE30100DC35A}"/>
              </a:ext>
            </a:extLst>
          </p:cNvPr>
          <p:cNvGrpSpPr/>
          <p:nvPr/>
        </p:nvGrpSpPr>
        <p:grpSpPr>
          <a:xfrm>
            <a:off x="2243515" y="855516"/>
            <a:ext cx="2644880" cy="1685082"/>
            <a:chOff x="2841520" y="1135009"/>
            <a:chExt cx="2644880" cy="1685082"/>
          </a:xfrm>
        </p:grpSpPr>
        <p:sp>
          <p:nvSpPr>
            <p:cNvPr id="11" name="文字方塊 10">
              <a:extLst>
                <a:ext uri="{FF2B5EF4-FFF2-40B4-BE49-F238E27FC236}">
                  <a16:creationId xmlns:a16="http://schemas.microsoft.com/office/drawing/2014/main" id="{34ADBC72-E399-3EDA-6C62-F41923AD2B33}"/>
                </a:ext>
              </a:extLst>
            </p:cNvPr>
            <p:cNvSpPr txBox="1"/>
            <p:nvPr/>
          </p:nvSpPr>
          <p:spPr>
            <a:xfrm>
              <a:off x="3289235" y="1135009"/>
              <a:ext cx="16518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TW" altLang="en-US" sz="1600" b="1">
                  <a:latin typeface="+mn-ea"/>
                  <a:cs typeface="Arial" panose="020B0604020202020204" pitchFamily="34" charset="0"/>
                </a:rPr>
                <a:t>選擇輸入</a:t>
              </a:r>
            </a:p>
          </p:txBody>
        </p:sp>
        <p:sp>
          <p:nvSpPr>
            <p:cNvPr id="13" name="文字方塊 12">
              <a:extLst>
                <a:ext uri="{FF2B5EF4-FFF2-40B4-BE49-F238E27FC236}">
                  <a16:creationId xmlns:a16="http://schemas.microsoft.com/office/drawing/2014/main" id="{EDD70F2F-2414-0F68-C719-197789ED6A6B}"/>
                </a:ext>
              </a:extLst>
            </p:cNvPr>
            <p:cNvSpPr txBox="1"/>
            <p:nvPr/>
          </p:nvSpPr>
          <p:spPr>
            <a:xfrm>
              <a:off x="2841520" y="1496652"/>
              <a:ext cx="2644880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80000" indent="-180000">
                <a:buFont typeface="Arial" panose="020B0604020202020204" pitchFamily="34" charset="0"/>
                <a:buChar char="•"/>
              </a:pPr>
              <a:r>
                <a:rPr lang="en-US" altLang="zh-TW" sz="1600"/>
                <a:t>selectInput</a:t>
              </a:r>
            </a:p>
            <a:p>
              <a:pPr marL="180000" indent="-180000">
                <a:buFont typeface="Arial" panose="020B0604020202020204" pitchFamily="34" charset="0"/>
                <a:buChar char="•"/>
              </a:pPr>
              <a:r>
                <a:rPr lang="en-US" altLang="zh-TW" sz="1600"/>
                <a:t>selectizeInput</a:t>
              </a:r>
            </a:p>
            <a:p>
              <a:pPr marL="180000" indent="-180000">
                <a:buFont typeface="Arial" panose="020B0604020202020204" pitchFamily="34" charset="0"/>
                <a:buChar char="•"/>
              </a:pPr>
              <a:r>
                <a:rPr lang="en-US" altLang="zh-TW" sz="1600"/>
                <a:t>radioButtons</a:t>
              </a:r>
            </a:p>
            <a:p>
              <a:pPr marL="180000" indent="-180000">
                <a:buFont typeface="Arial" panose="020B0604020202020204" pitchFamily="34" charset="0"/>
                <a:buChar char="•"/>
              </a:pPr>
              <a:r>
                <a:rPr lang="en-US" altLang="zh-TW" sz="1600"/>
                <a:t>checkboxInput</a:t>
              </a:r>
            </a:p>
            <a:p>
              <a:pPr marL="180000" indent="-180000">
                <a:buFont typeface="Arial" panose="020B0604020202020204" pitchFamily="34" charset="0"/>
                <a:buChar char="•"/>
              </a:pPr>
              <a:r>
                <a:rPr lang="en-US" altLang="zh-TW" sz="1600"/>
                <a:t>checkboxGroupInput</a:t>
              </a:r>
            </a:p>
          </p:txBody>
        </p:sp>
      </p:grpSp>
      <p:grpSp>
        <p:nvGrpSpPr>
          <p:cNvPr id="39" name="群組 38">
            <a:extLst>
              <a:ext uri="{FF2B5EF4-FFF2-40B4-BE49-F238E27FC236}">
                <a16:creationId xmlns:a16="http://schemas.microsoft.com/office/drawing/2014/main" id="{FF9A0566-49B6-EFC9-433A-AFCA8159950B}"/>
              </a:ext>
            </a:extLst>
          </p:cNvPr>
          <p:cNvGrpSpPr/>
          <p:nvPr/>
        </p:nvGrpSpPr>
        <p:grpSpPr>
          <a:xfrm>
            <a:off x="4804647" y="855516"/>
            <a:ext cx="2163443" cy="954107"/>
            <a:chOff x="5968181" y="1134112"/>
            <a:chExt cx="2163443" cy="954107"/>
          </a:xfrm>
        </p:grpSpPr>
        <p:sp>
          <p:nvSpPr>
            <p:cNvPr id="15" name="文字方塊 14">
              <a:extLst>
                <a:ext uri="{FF2B5EF4-FFF2-40B4-BE49-F238E27FC236}">
                  <a16:creationId xmlns:a16="http://schemas.microsoft.com/office/drawing/2014/main" id="{44E1BBED-E947-296C-F998-397A75A96648}"/>
                </a:ext>
              </a:extLst>
            </p:cNvPr>
            <p:cNvSpPr txBox="1"/>
            <p:nvPr/>
          </p:nvSpPr>
          <p:spPr>
            <a:xfrm>
              <a:off x="6179576" y="1134112"/>
              <a:ext cx="16518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TW" altLang="en-US" sz="1600" b="1">
                  <a:latin typeface="+mn-ea"/>
                  <a:cs typeface="Arial" panose="020B0604020202020204" pitchFamily="34" charset="0"/>
                </a:rPr>
                <a:t>日期輸入</a:t>
              </a:r>
            </a:p>
          </p:txBody>
        </p:sp>
        <p:sp>
          <p:nvSpPr>
            <p:cNvPr id="17" name="文字方塊 16">
              <a:extLst>
                <a:ext uri="{FF2B5EF4-FFF2-40B4-BE49-F238E27FC236}">
                  <a16:creationId xmlns:a16="http://schemas.microsoft.com/office/drawing/2014/main" id="{31D62922-A3A9-DFD1-667E-5004FA42D465}"/>
                </a:ext>
              </a:extLst>
            </p:cNvPr>
            <p:cNvSpPr txBox="1"/>
            <p:nvPr/>
          </p:nvSpPr>
          <p:spPr>
            <a:xfrm>
              <a:off x="5968181" y="1503444"/>
              <a:ext cx="2163443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80000" indent="-180000">
                <a:buFont typeface="Arial" panose="020B0604020202020204" pitchFamily="34" charset="0"/>
                <a:buChar char="•"/>
              </a:pPr>
              <a:r>
                <a:rPr lang="en-US" altLang="zh-TW" sz="1600"/>
                <a:t>dateInput</a:t>
              </a:r>
            </a:p>
            <a:p>
              <a:pPr marL="180000" indent="-180000">
                <a:buFont typeface="Arial" panose="020B0604020202020204" pitchFamily="34" charset="0"/>
                <a:buChar char="•"/>
              </a:pPr>
              <a:r>
                <a:rPr lang="en-US" altLang="zh-TW" sz="1600"/>
                <a:t>dateRangeInput</a:t>
              </a:r>
            </a:p>
          </p:txBody>
        </p:sp>
      </p:grpSp>
      <p:cxnSp>
        <p:nvCxnSpPr>
          <p:cNvPr id="18" name="直線接點 17">
            <a:extLst>
              <a:ext uri="{FF2B5EF4-FFF2-40B4-BE49-F238E27FC236}">
                <a16:creationId xmlns:a16="http://schemas.microsoft.com/office/drawing/2014/main" id="{082FE443-A806-C722-7FB1-ED934C5462E1}"/>
              </a:ext>
            </a:extLst>
          </p:cNvPr>
          <p:cNvCxnSpPr>
            <a:cxnSpLocks/>
          </p:cNvCxnSpPr>
          <p:nvPr/>
        </p:nvCxnSpPr>
        <p:spPr>
          <a:xfrm>
            <a:off x="4713163" y="781638"/>
            <a:ext cx="0" cy="6076362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2" name="群組 41">
            <a:extLst>
              <a:ext uri="{FF2B5EF4-FFF2-40B4-BE49-F238E27FC236}">
                <a16:creationId xmlns:a16="http://schemas.microsoft.com/office/drawing/2014/main" id="{FC0F3982-9170-1B67-0A9B-3434C704496A}"/>
              </a:ext>
            </a:extLst>
          </p:cNvPr>
          <p:cNvGrpSpPr/>
          <p:nvPr/>
        </p:nvGrpSpPr>
        <p:grpSpPr>
          <a:xfrm>
            <a:off x="6851159" y="855516"/>
            <a:ext cx="2163443" cy="990298"/>
            <a:chOff x="9925671" y="1790999"/>
            <a:chExt cx="2163443" cy="990298"/>
          </a:xfrm>
        </p:grpSpPr>
        <p:sp>
          <p:nvSpPr>
            <p:cNvPr id="24" name="文字方塊 23">
              <a:extLst>
                <a:ext uri="{FF2B5EF4-FFF2-40B4-BE49-F238E27FC236}">
                  <a16:creationId xmlns:a16="http://schemas.microsoft.com/office/drawing/2014/main" id="{5C6735C3-17E3-8F63-5F51-0C5E589C8229}"/>
                </a:ext>
              </a:extLst>
            </p:cNvPr>
            <p:cNvSpPr txBox="1"/>
            <p:nvPr/>
          </p:nvSpPr>
          <p:spPr>
            <a:xfrm>
              <a:off x="10048568" y="1790999"/>
              <a:ext cx="16518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TW" altLang="en-US" sz="1600" b="1">
                  <a:latin typeface="+mn-ea"/>
                  <a:cs typeface="Arial" panose="020B0604020202020204" pitchFamily="34" charset="0"/>
                </a:rPr>
                <a:t>數字輸入</a:t>
              </a:r>
            </a:p>
          </p:txBody>
        </p:sp>
        <p:sp>
          <p:nvSpPr>
            <p:cNvPr id="30" name="文字方塊 29">
              <a:extLst>
                <a:ext uri="{FF2B5EF4-FFF2-40B4-BE49-F238E27FC236}">
                  <a16:creationId xmlns:a16="http://schemas.microsoft.com/office/drawing/2014/main" id="{BC2CA3B9-1A04-999C-F34F-5609D6EAF282}"/>
                </a:ext>
              </a:extLst>
            </p:cNvPr>
            <p:cNvSpPr txBox="1"/>
            <p:nvPr/>
          </p:nvSpPr>
          <p:spPr>
            <a:xfrm>
              <a:off x="9925671" y="2196522"/>
              <a:ext cx="2163443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80000" indent="-180000">
                <a:buFont typeface="Arial" panose="020B0604020202020204" pitchFamily="34" charset="0"/>
                <a:buChar char="•"/>
              </a:pPr>
              <a:r>
                <a:rPr lang="en-US" altLang="zh-TW" sz="1600"/>
                <a:t>numericInput</a:t>
              </a:r>
            </a:p>
            <a:p>
              <a:pPr marL="180000" indent="-180000">
                <a:buFont typeface="Arial" panose="020B0604020202020204" pitchFamily="34" charset="0"/>
                <a:buChar char="•"/>
              </a:pPr>
              <a:r>
                <a:rPr lang="en-US" altLang="zh-TW" sz="1600"/>
                <a:t>sliderInput</a:t>
              </a:r>
            </a:p>
          </p:txBody>
        </p:sp>
      </p:grpSp>
      <p:grpSp>
        <p:nvGrpSpPr>
          <p:cNvPr id="36" name="群組 35">
            <a:extLst>
              <a:ext uri="{FF2B5EF4-FFF2-40B4-BE49-F238E27FC236}">
                <a16:creationId xmlns:a16="http://schemas.microsoft.com/office/drawing/2014/main" id="{85F73194-7B47-D563-1E39-18FCD2864015}"/>
              </a:ext>
            </a:extLst>
          </p:cNvPr>
          <p:cNvGrpSpPr/>
          <p:nvPr/>
        </p:nvGrpSpPr>
        <p:grpSpPr>
          <a:xfrm>
            <a:off x="4815529" y="1983242"/>
            <a:ext cx="2163442" cy="680467"/>
            <a:chOff x="9898984" y="689015"/>
            <a:chExt cx="2163443" cy="680467"/>
          </a:xfrm>
        </p:grpSpPr>
        <p:sp>
          <p:nvSpPr>
            <p:cNvPr id="22" name="文字方塊 21">
              <a:extLst>
                <a:ext uri="{FF2B5EF4-FFF2-40B4-BE49-F238E27FC236}">
                  <a16:creationId xmlns:a16="http://schemas.microsoft.com/office/drawing/2014/main" id="{A23A7F58-0E3E-85F0-2083-854182E67FD1}"/>
                </a:ext>
              </a:extLst>
            </p:cNvPr>
            <p:cNvSpPr txBox="1"/>
            <p:nvPr/>
          </p:nvSpPr>
          <p:spPr>
            <a:xfrm>
              <a:off x="10118278" y="689015"/>
              <a:ext cx="16518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TW" altLang="en-US" sz="1600" b="1">
                  <a:latin typeface="+mn-ea"/>
                  <a:cs typeface="Arial" panose="020B0604020202020204" pitchFamily="34" charset="0"/>
                </a:rPr>
                <a:t>檔案輸入</a:t>
              </a:r>
            </a:p>
          </p:txBody>
        </p:sp>
        <p:sp>
          <p:nvSpPr>
            <p:cNvPr id="32" name="文字方塊 31">
              <a:extLst>
                <a:ext uri="{FF2B5EF4-FFF2-40B4-BE49-F238E27FC236}">
                  <a16:creationId xmlns:a16="http://schemas.microsoft.com/office/drawing/2014/main" id="{7FE58274-1551-C10D-B87C-09A6D92D6E7B}"/>
                </a:ext>
              </a:extLst>
            </p:cNvPr>
            <p:cNvSpPr txBox="1"/>
            <p:nvPr/>
          </p:nvSpPr>
          <p:spPr>
            <a:xfrm>
              <a:off x="9898984" y="1030928"/>
              <a:ext cx="2163443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80000" indent="-180000">
                <a:buFont typeface="Arial" panose="020B0604020202020204" pitchFamily="34" charset="0"/>
                <a:buChar char="•"/>
              </a:pPr>
              <a:r>
                <a:rPr lang="en-US" altLang="zh-TW" sz="1600"/>
                <a:t>fileInput</a:t>
              </a:r>
            </a:p>
          </p:txBody>
        </p:sp>
      </p:grpSp>
      <p:cxnSp>
        <p:nvCxnSpPr>
          <p:cNvPr id="33" name="直線接點 32">
            <a:extLst>
              <a:ext uri="{FF2B5EF4-FFF2-40B4-BE49-F238E27FC236}">
                <a16:creationId xmlns:a16="http://schemas.microsoft.com/office/drawing/2014/main" id="{7F54B6F5-14FF-1E4E-B294-157D5D6BC8AC}"/>
              </a:ext>
            </a:extLst>
          </p:cNvPr>
          <p:cNvCxnSpPr>
            <a:cxnSpLocks/>
          </p:cNvCxnSpPr>
          <p:nvPr/>
        </p:nvCxnSpPr>
        <p:spPr>
          <a:xfrm flipH="1">
            <a:off x="0" y="3211286"/>
            <a:ext cx="121920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3" name="群組 42">
            <a:extLst>
              <a:ext uri="{FF2B5EF4-FFF2-40B4-BE49-F238E27FC236}">
                <a16:creationId xmlns:a16="http://schemas.microsoft.com/office/drawing/2014/main" id="{E8B1FF42-3D3E-8B50-7498-38662590E81F}"/>
              </a:ext>
            </a:extLst>
          </p:cNvPr>
          <p:cNvGrpSpPr/>
          <p:nvPr/>
        </p:nvGrpSpPr>
        <p:grpSpPr>
          <a:xfrm>
            <a:off x="6856065" y="1983242"/>
            <a:ext cx="2163443" cy="948575"/>
            <a:chOff x="9890548" y="3716703"/>
            <a:chExt cx="2163443" cy="948575"/>
          </a:xfrm>
        </p:grpSpPr>
        <p:sp>
          <p:nvSpPr>
            <p:cNvPr id="26" name="文字方塊 25">
              <a:extLst>
                <a:ext uri="{FF2B5EF4-FFF2-40B4-BE49-F238E27FC236}">
                  <a16:creationId xmlns:a16="http://schemas.microsoft.com/office/drawing/2014/main" id="{2B794A3B-A315-41FA-8648-CEAC8B2AD719}"/>
                </a:ext>
              </a:extLst>
            </p:cNvPr>
            <p:cNvSpPr txBox="1"/>
            <p:nvPr/>
          </p:nvSpPr>
          <p:spPr>
            <a:xfrm>
              <a:off x="10048567" y="3716703"/>
              <a:ext cx="16518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TW" altLang="en-US" sz="1600" b="1">
                  <a:latin typeface="+mn-ea"/>
                  <a:cs typeface="Arial" panose="020B0604020202020204" pitchFamily="34" charset="0"/>
                </a:rPr>
                <a:t>其他輸入</a:t>
              </a:r>
            </a:p>
          </p:txBody>
        </p:sp>
        <p:sp>
          <p:nvSpPr>
            <p:cNvPr id="41" name="文字方塊 40">
              <a:extLst>
                <a:ext uri="{FF2B5EF4-FFF2-40B4-BE49-F238E27FC236}">
                  <a16:creationId xmlns:a16="http://schemas.microsoft.com/office/drawing/2014/main" id="{FE4403E7-BD23-3233-8BC9-DC076B42FB2F}"/>
                </a:ext>
              </a:extLst>
            </p:cNvPr>
            <p:cNvSpPr txBox="1"/>
            <p:nvPr/>
          </p:nvSpPr>
          <p:spPr>
            <a:xfrm>
              <a:off x="9890548" y="4080503"/>
              <a:ext cx="2163443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80000" indent="-180000">
                <a:buFont typeface="Arial" panose="020B0604020202020204" pitchFamily="34" charset="0"/>
                <a:buChar char="•"/>
              </a:pPr>
              <a:r>
                <a:rPr lang="en-US" altLang="zh-TW" sz="1600"/>
                <a:t>actionButton</a:t>
              </a:r>
            </a:p>
            <a:p>
              <a:pPr marL="180000" indent="-180000">
                <a:buFont typeface="Arial" panose="020B0604020202020204" pitchFamily="34" charset="0"/>
                <a:buChar char="•"/>
              </a:pPr>
              <a:r>
                <a:rPr lang="en-US" altLang="zh-TW" sz="1600"/>
                <a:t>actionLink</a:t>
              </a:r>
            </a:p>
          </p:txBody>
        </p:sp>
      </p:grpSp>
      <p:cxnSp>
        <p:nvCxnSpPr>
          <p:cNvPr id="50" name="直線接點 49">
            <a:extLst>
              <a:ext uri="{FF2B5EF4-FFF2-40B4-BE49-F238E27FC236}">
                <a16:creationId xmlns:a16="http://schemas.microsoft.com/office/drawing/2014/main" id="{8D8E7502-7FE7-BEAF-D478-45EE9439B0BD}"/>
              </a:ext>
            </a:extLst>
          </p:cNvPr>
          <p:cNvCxnSpPr>
            <a:cxnSpLocks/>
          </p:cNvCxnSpPr>
          <p:nvPr/>
        </p:nvCxnSpPr>
        <p:spPr>
          <a:xfrm>
            <a:off x="6759678" y="781638"/>
            <a:ext cx="0" cy="6076362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9" name="群組 58">
            <a:extLst>
              <a:ext uri="{FF2B5EF4-FFF2-40B4-BE49-F238E27FC236}">
                <a16:creationId xmlns:a16="http://schemas.microsoft.com/office/drawing/2014/main" id="{11A738A5-D40A-CC67-831B-4AF911765434}"/>
              </a:ext>
            </a:extLst>
          </p:cNvPr>
          <p:cNvGrpSpPr/>
          <p:nvPr/>
        </p:nvGrpSpPr>
        <p:grpSpPr>
          <a:xfrm>
            <a:off x="8665902" y="882406"/>
            <a:ext cx="3524158" cy="563224"/>
            <a:chOff x="9933338" y="1783341"/>
            <a:chExt cx="2264130" cy="563224"/>
          </a:xfrm>
        </p:grpSpPr>
        <p:sp>
          <p:nvSpPr>
            <p:cNvPr id="60" name="文字方塊 59">
              <a:extLst>
                <a:ext uri="{FF2B5EF4-FFF2-40B4-BE49-F238E27FC236}">
                  <a16:creationId xmlns:a16="http://schemas.microsoft.com/office/drawing/2014/main" id="{F14B0D7A-7FDA-171A-9768-A2BC71AE2D27}"/>
                </a:ext>
              </a:extLst>
            </p:cNvPr>
            <p:cNvSpPr txBox="1"/>
            <p:nvPr/>
          </p:nvSpPr>
          <p:spPr>
            <a:xfrm>
              <a:off x="10231825" y="1783341"/>
              <a:ext cx="165181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TW" altLang="en-US" sz="1400" b="1">
                  <a:latin typeface="+mn-ea"/>
                  <a:cs typeface="Arial" panose="020B0604020202020204" pitchFamily="34" charset="0"/>
                </a:rPr>
                <a:t>顏色輸入</a:t>
              </a:r>
            </a:p>
          </p:txBody>
        </p:sp>
        <p:sp>
          <p:nvSpPr>
            <p:cNvPr id="61" name="文字方塊 60">
              <a:extLst>
                <a:ext uri="{FF2B5EF4-FFF2-40B4-BE49-F238E27FC236}">
                  <a16:creationId xmlns:a16="http://schemas.microsoft.com/office/drawing/2014/main" id="{2699EDF8-45F1-D329-2ACF-2C2C7C069658}"/>
                </a:ext>
              </a:extLst>
            </p:cNvPr>
            <p:cNvSpPr txBox="1"/>
            <p:nvPr/>
          </p:nvSpPr>
          <p:spPr>
            <a:xfrm>
              <a:off x="9933338" y="2038788"/>
              <a:ext cx="226413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80000" indent="-180000">
                <a:buFont typeface="Arial" panose="020B0604020202020204" pitchFamily="34" charset="0"/>
                <a:buChar char="•"/>
              </a:pPr>
              <a:r>
                <a:rPr lang="zh-TW" altLang="zh-TW" sz="1400">
                  <a:solidFill>
                    <a:srgbClr val="FF0000"/>
                  </a:solidFill>
                </a:rPr>
                <a:t>colourpicker</a:t>
              </a:r>
              <a:r>
                <a:rPr lang="en-US" altLang="zh-TW" sz="1400"/>
                <a:t>::colourInput</a:t>
              </a:r>
            </a:p>
          </p:txBody>
        </p:sp>
      </p:grpSp>
      <p:grpSp>
        <p:nvGrpSpPr>
          <p:cNvPr id="62" name="群組 61">
            <a:extLst>
              <a:ext uri="{FF2B5EF4-FFF2-40B4-BE49-F238E27FC236}">
                <a16:creationId xmlns:a16="http://schemas.microsoft.com/office/drawing/2014/main" id="{0BBD9132-7264-4E9D-81FF-E6EAD6A1362C}"/>
              </a:ext>
            </a:extLst>
          </p:cNvPr>
          <p:cNvGrpSpPr/>
          <p:nvPr/>
        </p:nvGrpSpPr>
        <p:grpSpPr>
          <a:xfrm>
            <a:off x="8665902" y="1519829"/>
            <a:ext cx="3228051" cy="540838"/>
            <a:chOff x="9925670" y="1824703"/>
            <a:chExt cx="2264130" cy="540838"/>
          </a:xfrm>
        </p:grpSpPr>
        <p:sp>
          <p:nvSpPr>
            <p:cNvPr id="63" name="文字方塊 62">
              <a:extLst>
                <a:ext uri="{FF2B5EF4-FFF2-40B4-BE49-F238E27FC236}">
                  <a16:creationId xmlns:a16="http://schemas.microsoft.com/office/drawing/2014/main" id="{B075AF8D-ABC4-1CCF-4C25-45DC3C14A7C5}"/>
                </a:ext>
              </a:extLst>
            </p:cNvPr>
            <p:cNvSpPr txBox="1"/>
            <p:nvPr/>
          </p:nvSpPr>
          <p:spPr>
            <a:xfrm>
              <a:off x="10327296" y="1824703"/>
              <a:ext cx="165181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TW" altLang="en-US" sz="1400" b="1">
                  <a:latin typeface="+mn-ea"/>
                  <a:cs typeface="Arial" panose="020B0604020202020204" pitchFamily="34" charset="0"/>
                </a:rPr>
                <a:t>時間輸入</a:t>
              </a:r>
            </a:p>
          </p:txBody>
        </p:sp>
        <p:sp>
          <p:nvSpPr>
            <p:cNvPr id="64" name="文字方塊 63">
              <a:extLst>
                <a:ext uri="{FF2B5EF4-FFF2-40B4-BE49-F238E27FC236}">
                  <a16:creationId xmlns:a16="http://schemas.microsoft.com/office/drawing/2014/main" id="{74D977A4-39E0-F61F-D2FD-451F5748BAFC}"/>
                </a:ext>
              </a:extLst>
            </p:cNvPr>
            <p:cNvSpPr txBox="1"/>
            <p:nvPr/>
          </p:nvSpPr>
          <p:spPr>
            <a:xfrm>
              <a:off x="9925670" y="2057764"/>
              <a:ext cx="226413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80000" indent="-180000">
                <a:buFont typeface="Arial" panose="020B0604020202020204" pitchFamily="34" charset="0"/>
                <a:buChar char="•"/>
              </a:pPr>
              <a:r>
                <a:rPr lang="en-US" altLang="zh-TW" sz="1400">
                  <a:solidFill>
                    <a:srgbClr val="FF0000"/>
                  </a:solidFill>
                </a:rPr>
                <a:t>shinyTime</a:t>
              </a:r>
              <a:r>
                <a:rPr lang="en-US" altLang="zh-TW" sz="1400"/>
                <a:t>::timeInput</a:t>
              </a:r>
            </a:p>
          </p:txBody>
        </p:sp>
      </p:grpSp>
      <p:grpSp>
        <p:nvGrpSpPr>
          <p:cNvPr id="65" name="群組 64">
            <a:extLst>
              <a:ext uri="{FF2B5EF4-FFF2-40B4-BE49-F238E27FC236}">
                <a16:creationId xmlns:a16="http://schemas.microsoft.com/office/drawing/2014/main" id="{C8818462-4E6B-18C1-E045-0BBF89FD5F97}"/>
              </a:ext>
            </a:extLst>
          </p:cNvPr>
          <p:cNvGrpSpPr/>
          <p:nvPr/>
        </p:nvGrpSpPr>
        <p:grpSpPr>
          <a:xfrm>
            <a:off x="8669256" y="2219625"/>
            <a:ext cx="3446544" cy="567154"/>
            <a:chOff x="2841523" y="1148112"/>
            <a:chExt cx="3557860" cy="567154"/>
          </a:xfrm>
        </p:grpSpPr>
        <p:sp>
          <p:nvSpPr>
            <p:cNvPr id="66" name="文字方塊 65">
              <a:extLst>
                <a:ext uri="{FF2B5EF4-FFF2-40B4-BE49-F238E27FC236}">
                  <a16:creationId xmlns:a16="http://schemas.microsoft.com/office/drawing/2014/main" id="{AC6FEAB8-ADC9-0595-B485-C3D073C63FFC}"/>
                </a:ext>
              </a:extLst>
            </p:cNvPr>
            <p:cNvSpPr txBox="1"/>
            <p:nvPr/>
          </p:nvSpPr>
          <p:spPr>
            <a:xfrm>
              <a:off x="3832143" y="1148112"/>
              <a:ext cx="165181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TW" altLang="en-US" sz="1400" b="1">
                  <a:latin typeface="+mn-ea"/>
                  <a:cs typeface="Arial" panose="020B0604020202020204" pitchFamily="34" charset="0"/>
                </a:rPr>
                <a:t>選擇輸入</a:t>
              </a:r>
            </a:p>
          </p:txBody>
        </p:sp>
        <p:sp>
          <p:nvSpPr>
            <p:cNvPr id="67" name="文字方塊 66">
              <a:extLst>
                <a:ext uri="{FF2B5EF4-FFF2-40B4-BE49-F238E27FC236}">
                  <a16:creationId xmlns:a16="http://schemas.microsoft.com/office/drawing/2014/main" id="{55616424-5F56-5DE9-5D48-A2DA7CD3DFFD}"/>
                </a:ext>
              </a:extLst>
            </p:cNvPr>
            <p:cNvSpPr txBox="1"/>
            <p:nvPr/>
          </p:nvSpPr>
          <p:spPr>
            <a:xfrm>
              <a:off x="2841523" y="1407489"/>
              <a:ext cx="355786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80000" indent="-180000">
                <a:buFont typeface="Arial" panose="020B0604020202020204" pitchFamily="34" charset="0"/>
                <a:buChar char="•"/>
              </a:pPr>
              <a:r>
                <a:rPr lang="zh-TW" altLang="zh-TW" sz="1400">
                  <a:solidFill>
                    <a:srgbClr val="FF0000"/>
                  </a:solidFill>
                </a:rPr>
                <a:t>shinyWidgets</a:t>
              </a:r>
              <a:r>
                <a:rPr lang="en-US" altLang="zh-TW" sz="1400"/>
                <a:t>::pickerInput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889750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B430BB-C506-64CA-D162-1E350C31BB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73F6CEC2-B7E7-794A-FE53-158F13FA1C8D}"/>
              </a:ext>
            </a:extLst>
          </p:cNvPr>
          <p:cNvSpPr txBox="1"/>
          <p:nvPr/>
        </p:nvSpPr>
        <p:spPr>
          <a:xfrm>
            <a:off x="196649" y="278749"/>
            <a:ext cx="1186753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>
                <a:solidFill>
                  <a:srgbClr val="FF0000"/>
                </a:solidFill>
              </a:rPr>
              <a:t>uiOutp</a:t>
            </a:r>
            <a:r>
              <a:rPr lang="zh-TW" altLang="zh-TW" i="0">
                <a:solidFill>
                  <a:srgbClr val="FF0000"/>
                </a:solidFill>
                <a:effectLst/>
              </a:rPr>
              <a:t>ut</a:t>
            </a:r>
            <a:r>
              <a:rPr lang="en-US" altLang="zh-TW" i="0">
                <a:solidFill>
                  <a:srgbClr val="000000"/>
                </a:solidFill>
                <a:effectLst/>
              </a:rPr>
              <a:t>:</a:t>
            </a:r>
            <a:endParaRPr lang="zh-TW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010CEBEB-C2D2-828A-3129-285AC23A65F1}"/>
              </a:ext>
            </a:extLst>
          </p:cNvPr>
          <p:cNvSpPr txBox="1"/>
          <p:nvPr/>
        </p:nvSpPr>
        <p:spPr>
          <a:xfrm>
            <a:off x="521110" y="4220048"/>
            <a:ext cx="95864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/>
              <a:t>textInput</a:t>
            </a:r>
            <a:r>
              <a:rPr lang="zh-TW" altLang="zh-TW"/>
              <a:t>(</a:t>
            </a:r>
            <a:r>
              <a:rPr lang="en-US" altLang="zh-TW"/>
              <a:t>inputId = </a:t>
            </a:r>
            <a:r>
              <a:rPr lang="zh-TW" altLang="zh-TW"/>
              <a:t>"name", </a:t>
            </a:r>
            <a:r>
              <a:rPr lang="en-US" altLang="zh-TW"/>
              <a:t>label = </a:t>
            </a:r>
            <a:r>
              <a:rPr lang="zh-TW" altLang="zh-TW"/>
              <a:t>"Your full name", value = "John Smith")</a:t>
            </a:r>
            <a:endParaRPr lang="zh-TW" altLang="en-US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2759C352-5B17-3C31-3BD6-77FAA94C57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92697" y="4855602"/>
            <a:ext cx="4206605" cy="1089754"/>
          </a:xfrm>
          <a:prstGeom prst="rect">
            <a:avLst/>
          </a:prstGeom>
        </p:spPr>
      </p:pic>
      <p:sp>
        <p:nvSpPr>
          <p:cNvPr id="19" name="文字方塊 18">
            <a:extLst>
              <a:ext uri="{FF2B5EF4-FFF2-40B4-BE49-F238E27FC236}">
                <a16:creationId xmlns:a16="http://schemas.microsoft.com/office/drawing/2014/main" id="{862FA2BE-D0C9-D744-6781-4AF08A179D90}"/>
              </a:ext>
            </a:extLst>
          </p:cNvPr>
          <p:cNvSpPr txBox="1"/>
          <p:nvPr/>
        </p:nvSpPr>
        <p:spPr>
          <a:xfrm>
            <a:off x="521110" y="3429000"/>
            <a:ext cx="30971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400">
                <a:latin typeface="Arial" panose="020B0604020202020204" pitchFamily="34" charset="0"/>
                <a:cs typeface="Arial" panose="020B0604020202020204" pitchFamily="34" charset="0"/>
              </a:rPr>
              <a:t>Example: </a:t>
            </a:r>
            <a:endParaRPr lang="zh-TW" altLang="en-US" sz="2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571471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8D5C85-A3F3-C8C7-3470-039B6F7649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197E8B36-283F-F183-38A7-77FB08375987}"/>
              </a:ext>
            </a:extLst>
          </p:cNvPr>
          <p:cNvSpPr txBox="1"/>
          <p:nvPr/>
        </p:nvSpPr>
        <p:spPr>
          <a:xfrm>
            <a:off x="196649" y="278749"/>
            <a:ext cx="11867532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zh-TW" i="0">
                <a:solidFill>
                  <a:srgbClr val="FF0000"/>
                </a:solidFill>
                <a:effectLst/>
              </a:rPr>
              <a:t>textInput</a:t>
            </a:r>
            <a:r>
              <a:rPr lang="en-US" altLang="zh-TW" i="0">
                <a:solidFill>
                  <a:srgbClr val="000000"/>
                </a:solidFill>
                <a:effectLst/>
              </a:rPr>
              <a:t>:</a:t>
            </a:r>
            <a:r>
              <a:rPr lang="zh-TW" altLang="en-US" i="0">
                <a:solidFill>
                  <a:srgbClr val="000000"/>
                </a:solidFill>
                <a:effectLst/>
              </a:rPr>
              <a:t> </a:t>
            </a:r>
            <a:r>
              <a:rPr lang="zh-TW" altLang="en-US">
                <a:solidFill>
                  <a:srgbClr val="000000"/>
                </a:solidFill>
                <a:latin typeface="Arial" panose="020B0604020202020204" pitchFamily="34" charset="0"/>
              </a:rPr>
              <a:t>單行文字輸入 </a:t>
            </a:r>
            <a:r>
              <a:rPr lang="zh-TW" altLang="zh-TW">
                <a:solidFill>
                  <a:srgbClr val="000000"/>
                </a:solidFill>
                <a:latin typeface="Arial" panose="020B0604020202020204" pitchFamily="34" charset="0"/>
              </a:rPr>
              <a:t>Create an input control for entry of unstructured text values</a:t>
            </a:r>
            <a:r>
              <a:rPr lang="en-US" altLang="zh-TW">
                <a:solidFill>
                  <a:srgbClr val="000000"/>
                </a:solidFill>
                <a:latin typeface="Arial" panose="020B0604020202020204" pitchFamily="34" charset="0"/>
              </a:rPr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>
                <a:solidFill>
                  <a:srgbClr val="000000"/>
                </a:solidFill>
              </a:rPr>
              <a:t>inputId: </a:t>
            </a:r>
            <a:r>
              <a:rPr lang="zh-TW" altLang="zh-TW">
                <a:latin typeface="Arial" panose="020B0604020202020204" pitchFamily="34" charset="0"/>
                <a:cs typeface="Arial" panose="020B0604020202020204" pitchFamily="34" charset="0"/>
              </a:rPr>
              <a:t>The input slot that will be used to access the value.</a:t>
            </a:r>
            <a:endParaRPr lang="en-US" altLang="zh-TW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>
                <a:solidFill>
                  <a:srgbClr val="000000"/>
                </a:solidFill>
              </a:rPr>
              <a:t>label: </a:t>
            </a:r>
            <a:r>
              <a:rPr lang="zh-TW" altLang="en-US">
                <a:solidFill>
                  <a:srgbClr val="000000"/>
                </a:solidFill>
              </a:rPr>
              <a:t>標題 </a:t>
            </a:r>
            <a:r>
              <a:rPr lang="zh-TW" altLang="zh-TW">
                <a:latin typeface="Arial" panose="020B0604020202020204" pitchFamily="34" charset="0"/>
                <a:cs typeface="Arial" panose="020B0604020202020204" pitchFamily="34" charset="0"/>
              </a:rPr>
              <a:t>Display label for the control</a:t>
            </a:r>
            <a:r>
              <a:rPr lang="en-US" altLang="zh-TW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en-US" altLang="zh-TW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>
                <a:solidFill>
                  <a:srgbClr val="000000"/>
                </a:solidFill>
              </a:rPr>
              <a:t>value: </a:t>
            </a:r>
            <a:r>
              <a:rPr lang="zh-TW" altLang="en-US">
                <a:solidFill>
                  <a:srgbClr val="000000"/>
                </a:solidFill>
              </a:rPr>
              <a:t>初始值 </a:t>
            </a:r>
            <a:r>
              <a:rPr lang="zh-TW" altLang="zh-TW">
                <a:latin typeface="Arial" panose="020B0604020202020204" pitchFamily="34" charset="0"/>
                <a:cs typeface="Arial" panose="020B0604020202020204" pitchFamily="34" charset="0"/>
              </a:rPr>
              <a:t>Initial value.</a:t>
            </a:r>
            <a:endParaRPr lang="en-US" altLang="zh-TW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>
                <a:solidFill>
                  <a:srgbClr val="000000"/>
                </a:solidFill>
              </a:rPr>
              <a:t>width = </a:t>
            </a:r>
            <a:r>
              <a:rPr lang="zh-TW" altLang="en-US">
                <a:solidFill>
                  <a:srgbClr val="000000"/>
                </a:solidFill>
              </a:rPr>
              <a:t>輸入格寬度 </a:t>
            </a:r>
            <a:r>
              <a:rPr lang="zh-TW" altLang="zh-TW">
                <a:latin typeface="Arial" panose="020B0604020202020204" pitchFamily="34" charset="0"/>
                <a:cs typeface="Arial" panose="020B0604020202020204" pitchFamily="34" charset="0"/>
              </a:rPr>
              <a:t>The width of the input, e.g. </a:t>
            </a:r>
            <a:r>
              <a:rPr lang="en-US" altLang="zh-TW">
                <a:latin typeface="Arial" panose="020B0604020202020204" pitchFamily="34" charset="0"/>
                <a:cs typeface="Arial" panose="020B0604020202020204" pitchFamily="34" charset="0"/>
              </a:rPr>
              <a:t>”</a:t>
            </a:r>
            <a:r>
              <a:rPr lang="zh-TW" altLang="zh-TW">
                <a:latin typeface="Arial" panose="020B0604020202020204" pitchFamily="34" charset="0"/>
                <a:cs typeface="Arial" panose="020B0604020202020204" pitchFamily="34" charset="0"/>
              </a:rPr>
              <a:t>400px</a:t>
            </a:r>
            <a:r>
              <a:rPr lang="en-US" altLang="zh-TW">
                <a:latin typeface="Arial" panose="020B0604020202020204" pitchFamily="34" charset="0"/>
                <a:cs typeface="Arial" panose="020B0604020202020204" pitchFamily="34" charset="0"/>
              </a:rPr>
              <a:t>”</a:t>
            </a:r>
            <a:r>
              <a:rPr lang="zh-TW" altLang="zh-TW">
                <a:latin typeface="Arial" panose="020B0604020202020204" pitchFamily="34" charset="0"/>
                <a:cs typeface="Arial" panose="020B0604020202020204" pitchFamily="34" charset="0"/>
              </a:rPr>
              <a:t>, or </a:t>
            </a:r>
            <a:r>
              <a:rPr lang="en-US" altLang="zh-TW">
                <a:latin typeface="Arial" panose="020B0604020202020204" pitchFamily="34" charset="0"/>
                <a:cs typeface="Arial" panose="020B0604020202020204" pitchFamily="34" charset="0"/>
              </a:rPr>
              <a:t>”</a:t>
            </a:r>
            <a:r>
              <a:rPr lang="zh-TW" altLang="zh-TW">
                <a:latin typeface="Arial" panose="020B0604020202020204" pitchFamily="34" charset="0"/>
                <a:cs typeface="Arial" panose="020B0604020202020204" pitchFamily="34" charset="0"/>
              </a:rPr>
              <a:t>100%</a:t>
            </a:r>
            <a:r>
              <a:rPr lang="en-US" altLang="zh-TW">
                <a:latin typeface="Arial" panose="020B0604020202020204" pitchFamily="34" charset="0"/>
                <a:cs typeface="Arial" panose="020B0604020202020204" pitchFamily="34" charset="0"/>
              </a:rPr>
              <a:t>”</a:t>
            </a:r>
            <a:r>
              <a:rPr lang="zh-TW" altLang="zh-TW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TW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(recommended).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>
                <a:solidFill>
                  <a:srgbClr val="000000"/>
                </a:solidFill>
              </a:rPr>
              <a:t>placeholder: </a:t>
            </a:r>
            <a:r>
              <a:rPr lang="zh-TW" altLang="en-US">
                <a:solidFill>
                  <a:srgbClr val="000000"/>
                </a:solidFill>
              </a:rPr>
              <a:t>提示詞 </a:t>
            </a:r>
            <a:r>
              <a:rPr lang="zh-TW" altLang="zh-TW">
                <a:latin typeface="Arial" panose="020B0604020202020204" pitchFamily="34" charset="0"/>
                <a:cs typeface="Arial" panose="020B0604020202020204" pitchFamily="34" charset="0"/>
              </a:rPr>
              <a:t>A character string giving the user a hint as to what can be entered into the control.</a:t>
            </a:r>
            <a:endParaRPr lang="en-US" altLang="zh-TW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>
                <a:solidFill>
                  <a:srgbClr val="000000"/>
                </a:solidFill>
              </a:rPr>
              <a:t>updateOn = c(“change”, “blur”): </a:t>
            </a:r>
            <a:r>
              <a:rPr lang="zh-TW" altLang="zh-TW">
                <a:latin typeface="Arial" panose="020B0604020202020204" pitchFamily="34" charset="0"/>
                <a:cs typeface="Arial" panose="020B0604020202020204" pitchFamily="34" charset="0"/>
              </a:rPr>
              <a:t>A character vector specifying when the input should be updated. Use </a:t>
            </a:r>
            <a:r>
              <a:rPr lang="en-US" altLang="zh-TW">
                <a:latin typeface="Arial" panose="020B0604020202020204" pitchFamily="34" charset="0"/>
                <a:cs typeface="Arial" panose="020B0604020202020204" pitchFamily="34" charset="0"/>
              </a:rPr>
              <a:t>”</a:t>
            </a:r>
            <a:r>
              <a:rPr lang="zh-TW" altLang="zh-TW">
                <a:latin typeface="Arial" panose="020B0604020202020204" pitchFamily="34" charset="0"/>
                <a:cs typeface="Arial" panose="020B0604020202020204" pitchFamily="34" charset="0"/>
              </a:rPr>
              <a:t>change</a:t>
            </a:r>
            <a:r>
              <a:rPr lang="en-US" altLang="zh-TW">
                <a:latin typeface="Arial" panose="020B0604020202020204" pitchFamily="34" charset="0"/>
                <a:cs typeface="Arial" panose="020B0604020202020204" pitchFamily="34" charset="0"/>
              </a:rPr>
              <a:t>” (default)</a:t>
            </a:r>
            <a:r>
              <a:rPr lang="zh-TW" altLang="zh-TW">
                <a:latin typeface="Arial" panose="020B0604020202020204" pitchFamily="34" charset="0"/>
                <a:cs typeface="Arial" panose="020B0604020202020204" pitchFamily="34" charset="0"/>
              </a:rPr>
              <a:t> to update the input immediately whenever the value changes. Use </a:t>
            </a:r>
            <a:r>
              <a:rPr lang="en-US" altLang="zh-TW">
                <a:latin typeface="Arial" panose="020B0604020202020204" pitchFamily="34" charset="0"/>
                <a:cs typeface="Arial" panose="020B0604020202020204" pitchFamily="34" charset="0"/>
              </a:rPr>
              <a:t>”</a:t>
            </a:r>
            <a:r>
              <a:rPr lang="zh-TW" altLang="zh-TW">
                <a:latin typeface="Arial" panose="020B0604020202020204" pitchFamily="34" charset="0"/>
                <a:cs typeface="Arial" panose="020B0604020202020204" pitchFamily="34" charset="0"/>
              </a:rPr>
              <a:t>blur</a:t>
            </a:r>
            <a:r>
              <a:rPr lang="en-US" altLang="zh-TW">
                <a:latin typeface="Arial" panose="020B0604020202020204" pitchFamily="34" charset="0"/>
                <a:cs typeface="Arial" panose="020B0604020202020204" pitchFamily="34" charset="0"/>
              </a:rPr>
              <a:t>” </a:t>
            </a:r>
            <a:r>
              <a:rPr lang="zh-TW" altLang="zh-TW">
                <a:latin typeface="Arial" panose="020B0604020202020204" pitchFamily="34" charset="0"/>
                <a:cs typeface="Arial" panose="020B0604020202020204" pitchFamily="34" charset="0"/>
              </a:rPr>
              <a:t>to delay the input update until the input loses focus (the user moves away from the input), or when Enter is pressed</a:t>
            </a:r>
            <a:r>
              <a:rPr lang="en-US" altLang="zh-TW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zh-TW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2D0377B9-909F-FEFF-0269-141E98BCD3E2}"/>
              </a:ext>
            </a:extLst>
          </p:cNvPr>
          <p:cNvSpPr txBox="1"/>
          <p:nvPr/>
        </p:nvSpPr>
        <p:spPr>
          <a:xfrm>
            <a:off x="521110" y="4220048"/>
            <a:ext cx="95864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/>
              <a:t>textInput</a:t>
            </a:r>
            <a:r>
              <a:rPr lang="zh-TW" altLang="zh-TW"/>
              <a:t>(</a:t>
            </a:r>
            <a:r>
              <a:rPr lang="en-US" altLang="zh-TW"/>
              <a:t>inputId = </a:t>
            </a:r>
            <a:r>
              <a:rPr lang="zh-TW" altLang="zh-TW"/>
              <a:t>"name", </a:t>
            </a:r>
            <a:r>
              <a:rPr lang="en-US" altLang="zh-TW"/>
              <a:t>label = </a:t>
            </a:r>
            <a:r>
              <a:rPr lang="zh-TW" altLang="zh-TW"/>
              <a:t>"Your full name", value = "John Smith")</a:t>
            </a:r>
            <a:endParaRPr lang="zh-TW" altLang="en-US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63B7C369-4C51-B0DC-6CEA-94D1279224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92697" y="4855602"/>
            <a:ext cx="4206605" cy="1089754"/>
          </a:xfrm>
          <a:prstGeom prst="rect">
            <a:avLst/>
          </a:prstGeom>
        </p:spPr>
      </p:pic>
      <p:sp>
        <p:nvSpPr>
          <p:cNvPr id="19" name="文字方塊 18">
            <a:extLst>
              <a:ext uri="{FF2B5EF4-FFF2-40B4-BE49-F238E27FC236}">
                <a16:creationId xmlns:a16="http://schemas.microsoft.com/office/drawing/2014/main" id="{63D992B0-F4C3-0555-DF4D-03C17CB514C2}"/>
              </a:ext>
            </a:extLst>
          </p:cNvPr>
          <p:cNvSpPr txBox="1"/>
          <p:nvPr/>
        </p:nvSpPr>
        <p:spPr>
          <a:xfrm>
            <a:off x="521110" y="3429000"/>
            <a:ext cx="30971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400">
                <a:latin typeface="Arial" panose="020B0604020202020204" pitchFamily="34" charset="0"/>
                <a:cs typeface="Arial" panose="020B0604020202020204" pitchFamily="34" charset="0"/>
              </a:rPr>
              <a:t>Example: </a:t>
            </a:r>
            <a:endParaRPr lang="zh-TW" altLang="en-US" sz="2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71598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EF849DFC-8C42-D212-3EB6-4D26DD72BEE8}"/>
              </a:ext>
            </a:extLst>
          </p:cNvPr>
          <p:cNvSpPr txBox="1"/>
          <p:nvPr/>
        </p:nvSpPr>
        <p:spPr>
          <a:xfrm>
            <a:off x="196649" y="278749"/>
            <a:ext cx="1186753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>
                <a:solidFill>
                  <a:srgbClr val="FF0000"/>
                </a:solidFill>
              </a:rPr>
              <a:t>password</a:t>
            </a:r>
            <a:r>
              <a:rPr lang="zh-TW" altLang="zh-TW" i="0">
                <a:solidFill>
                  <a:srgbClr val="FF0000"/>
                </a:solidFill>
                <a:effectLst/>
              </a:rPr>
              <a:t>Input</a:t>
            </a:r>
            <a:r>
              <a:rPr lang="en-US" altLang="zh-TW" i="0">
                <a:solidFill>
                  <a:srgbClr val="000000"/>
                </a:solidFill>
                <a:effectLst/>
              </a:rPr>
              <a:t>:</a:t>
            </a:r>
            <a:r>
              <a:rPr lang="zh-TW" altLang="en-US" i="0">
                <a:solidFill>
                  <a:srgbClr val="000000"/>
                </a:solidFill>
                <a:effectLst/>
              </a:rPr>
              <a:t> </a:t>
            </a:r>
            <a:endParaRPr lang="en-US" altLang="zh-TW">
              <a:solidFill>
                <a:srgbClr val="000000"/>
              </a:solidFill>
              <a:latin typeface="Arial" panose="020B0604020202020204" pitchFamily="34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>
                <a:solidFill>
                  <a:srgbClr val="000000"/>
                </a:solidFill>
              </a:rPr>
              <a:t>inputId: </a:t>
            </a:r>
            <a:r>
              <a:rPr lang="zh-TW" altLang="zh-TW">
                <a:latin typeface="Arial" panose="020B0604020202020204" pitchFamily="34" charset="0"/>
                <a:cs typeface="Arial" panose="020B0604020202020204" pitchFamily="34" charset="0"/>
              </a:rPr>
              <a:t>The input slot that will be used to access the value.</a:t>
            </a:r>
            <a:endParaRPr lang="en-US" altLang="zh-TW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>
                <a:solidFill>
                  <a:srgbClr val="000000"/>
                </a:solidFill>
              </a:rPr>
              <a:t>label: </a:t>
            </a:r>
            <a:r>
              <a:rPr lang="zh-TW" altLang="en-US">
                <a:solidFill>
                  <a:srgbClr val="000000"/>
                </a:solidFill>
              </a:rPr>
              <a:t>標題 </a:t>
            </a:r>
            <a:r>
              <a:rPr lang="zh-TW" altLang="zh-TW">
                <a:latin typeface="Arial" panose="020B0604020202020204" pitchFamily="34" charset="0"/>
                <a:cs typeface="Arial" panose="020B0604020202020204" pitchFamily="34" charset="0"/>
              </a:rPr>
              <a:t>Display label for the control</a:t>
            </a:r>
            <a:r>
              <a:rPr lang="en-US" altLang="zh-TW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en-US" altLang="zh-TW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>
                <a:solidFill>
                  <a:srgbClr val="000000"/>
                </a:solidFill>
              </a:rPr>
              <a:t>value: </a:t>
            </a:r>
            <a:r>
              <a:rPr lang="zh-TW" altLang="en-US">
                <a:solidFill>
                  <a:srgbClr val="000000"/>
                </a:solidFill>
              </a:rPr>
              <a:t>初始值 </a:t>
            </a:r>
            <a:r>
              <a:rPr lang="zh-TW" altLang="zh-TW">
                <a:latin typeface="Arial" panose="020B0604020202020204" pitchFamily="34" charset="0"/>
                <a:cs typeface="Arial" panose="020B0604020202020204" pitchFamily="34" charset="0"/>
              </a:rPr>
              <a:t>Initial value.</a:t>
            </a:r>
            <a:endParaRPr lang="en-US" altLang="zh-TW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847F21EE-878B-1089-2DB3-866AC780D31C}"/>
              </a:ext>
            </a:extLst>
          </p:cNvPr>
          <p:cNvSpPr txBox="1"/>
          <p:nvPr/>
        </p:nvSpPr>
        <p:spPr>
          <a:xfrm>
            <a:off x="521109" y="4220048"/>
            <a:ext cx="107368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/>
              <a:t>passwordInput</a:t>
            </a:r>
            <a:r>
              <a:rPr lang="zh-TW" altLang="zh-TW"/>
              <a:t>(</a:t>
            </a:r>
            <a:r>
              <a:rPr lang="en-US" altLang="zh-TW"/>
              <a:t>inputId = </a:t>
            </a:r>
            <a:r>
              <a:rPr lang="zh-TW" altLang="zh-TW"/>
              <a:t>"name", </a:t>
            </a:r>
            <a:r>
              <a:rPr lang="en-US" altLang="zh-TW"/>
              <a:t>label = </a:t>
            </a:r>
            <a:r>
              <a:rPr lang="zh-TW" altLang="zh-TW"/>
              <a:t>"Your full name", value = "John Smith")</a:t>
            </a:r>
            <a:endParaRPr lang="zh-TW" altLang="en-US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E3D81FF6-DAB1-72BC-4A91-E7598010A4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92697" y="4855602"/>
            <a:ext cx="4206605" cy="1089754"/>
          </a:xfrm>
          <a:prstGeom prst="rect">
            <a:avLst/>
          </a:prstGeom>
        </p:spPr>
      </p:pic>
      <p:sp>
        <p:nvSpPr>
          <p:cNvPr id="19" name="文字方塊 18">
            <a:extLst>
              <a:ext uri="{FF2B5EF4-FFF2-40B4-BE49-F238E27FC236}">
                <a16:creationId xmlns:a16="http://schemas.microsoft.com/office/drawing/2014/main" id="{E35D3834-54F9-B2A4-8985-0E1312208FEB}"/>
              </a:ext>
            </a:extLst>
          </p:cNvPr>
          <p:cNvSpPr txBox="1"/>
          <p:nvPr/>
        </p:nvSpPr>
        <p:spPr>
          <a:xfrm>
            <a:off x="521110" y="3429000"/>
            <a:ext cx="30971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400">
                <a:latin typeface="Arial" panose="020B0604020202020204" pitchFamily="34" charset="0"/>
                <a:cs typeface="Arial" panose="020B0604020202020204" pitchFamily="34" charset="0"/>
              </a:rPr>
              <a:t>Example: </a:t>
            </a:r>
            <a:endParaRPr lang="zh-TW" altLang="en-US" sz="2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77306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D96381-EF4C-F05A-3EFF-1C2230B21E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8151D571-B839-DB46-2EC8-611AE1E7107A}"/>
              </a:ext>
            </a:extLst>
          </p:cNvPr>
          <p:cNvSpPr txBox="1"/>
          <p:nvPr/>
        </p:nvSpPr>
        <p:spPr>
          <a:xfrm>
            <a:off x="196649" y="278749"/>
            <a:ext cx="1186753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>
                <a:solidFill>
                  <a:srgbClr val="FF0000"/>
                </a:solidFill>
              </a:rPr>
              <a:t>textAreaInput</a:t>
            </a:r>
            <a:r>
              <a:rPr lang="en-US" altLang="zh-TW" i="0">
                <a:solidFill>
                  <a:srgbClr val="000000"/>
                </a:solidFill>
                <a:effectLst/>
              </a:rPr>
              <a:t>:</a:t>
            </a:r>
            <a:r>
              <a:rPr lang="zh-TW" altLang="en-US" i="0">
                <a:solidFill>
                  <a:srgbClr val="000000"/>
                </a:solidFill>
                <a:effectLst/>
              </a:rPr>
              <a:t> 多行文字輸入</a:t>
            </a:r>
            <a:endParaRPr lang="en-US" altLang="zh-TW">
              <a:solidFill>
                <a:srgbClr val="000000"/>
              </a:solidFill>
              <a:latin typeface="Arial" panose="020B0604020202020204" pitchFamily="34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>
                <a:solidFill>
                  <a:srgbClr val="000000"/>
                </a:solidFill>
              </a:rPr>
              <a:t>inputId: </a:t>
            </a:r>
            <a:r>
              <a:rPr lang="zh-TW" altLang="zh-TW">
                <a:latin typeface="Arial" panose="020B0604020202020204" pitchFamily="34" charset="0"/>
                <a:cs typeface="Arial" panose="020B0604020202020204" pitchFamily="34" charset="0"/>
              </a:rPr>
              <a:t>The input slot that will be used to access the value.</a:t>
            </a:r>
            <a:endParaRPr lang="en-US" altLang="zh-TW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>
                <a:solidFill>
                  <a:srgbClr val="000000"/>
                </a:solidFill>
              </a:rPr>
              <a:t>label: </a:t>
            </a:r>
            <a:r>
              <a:rPr lang="zh-TW" altLang="en-US">
                <a:solidFill>
                  <a:srgbClr val="000000"/>
                </a:solidFill>
              </a:rPr>
              <a:t>標題 </a:t>
            </a:r>
            <a:r>
              <a:rPr lang="zh-TW" altLang="zh-TW">
                <a:latin typeface="Arial" panose="020B0604020202020204" pitchFamily="34" charset="0"/>
                <a:cs typeface="Arial" panose="020B0604020202020204" pitchFamily="34" charset="0"/>
              </a:rPr>
              <a:t>Display label for the control</a:t>
            </a:r>
            <a:r>
              <a:rPr lang="en-US" altLang="zh-TW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en-US" altLang="zh-TW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>
                <a:solidFill>
                  <a:srgbClr val="000000"/>
                </a:solidFill>
              </a:rPr>
              <a:t>value: </a:t>
            </a:r>
            <a:r>
              <a:rPr lang="zh-TW" altLang="en-US">
                <a:solidFill>
                  <a:srgbClr val="000000"/>
                </a:solidFill>
              </a:rPr>
              <a:t>初始值 </a:t>
            </a:r>
            <a:r>
              <a:rPr lang="zh-TW" altLang="zh-TW">
                <a:latin typeface="Arial" panose="020B0604020202020204" pitchFamily="34" charset="0"/>
                <a:cs typeface="Arial" panose="020B0604020202020204" pitchFamily="34" charset="0"/>
              </a:rPr>
              <a:t>Initial value.</a:t>
            </a:r>
            <a:endParaRPr lang="en-US" altLang="zh-TW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FCC66838-B566-5D4D-9062-731C72DF245D}"/>
              </a:ext>
            </a:extLst>
          </p:cNvPr>
          <p:cNvSpPr txBox="1"/>
          <p:nvPr/>
        </p:nvSpPr>
        <p:spPr>
          <a:xfrm>
            <a:off x="521109" y="4220048"/>
            <a:ext cx="107368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>
                <a:solidFill>
                  <a:srgbClr val="FF0000"/>
                </a:solidFill>
              </a:rPr>
              <a:t>textAreaInput</a:t>
            </a:r>
            <a:r>
              <a:rPr lang="zh-TW" altLang="zh-TW"/>
              <a:t>(</a:t>
            </a:r>
            <a:r>
              <a:rPr lang="en-US" altLang="zh-TW"/>
              <a:t>inputId = </a:t>
            </a:r>
            <a:r>
              <a:rPr lang="zh-TW" altLang="zh-TW"/>
              <a:t>"name", </a:t>
            </a:r>
            <a:r>
              <a:rPr lang="en-US" altLang="zh-TW"/>
              <a:t>label = </a:t>
            </a:r>
            <a:r>
              <a:rPr lang="zh-TW" altLang="zh-TW"/>
              <a:t>"Your full name", value = "John Smith")</a:t>
            </a:r>
            <a:endParaRPr lang="zh-TW" altLang="en-US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609A9340-1586-25B1-04DD-C0F086385A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92697" y="4855602"/>
            <a:ext cx="4206605" cy="1089754"/>
          </a:xfrm>
          <a:prstGeom prst="rect">
            <a:avLst/>
          </a:prstGeom>
        </p:spPr>
      </p:pic>
      <p:sp>
        <p:nvSpPr>
          <p:cNvPr id="19" name="文字方塊 18">
            <a:extLst>
              <a:ext uri="{FF2B5EF4-FFF2-40B4-BE49-F238E27FC236}">
                <a16:creationId xmlns:a16="http://schemas.microsoft.com/office/drawing/2014/main" id="{A21820AA-D326-D752-83B0-92FA6571800D}"/>
              </a:ext>
            </a:extLst>
          </p:cNvPr>
          <p:cNvSpPr txBox="1"/>
          <p:nvPr/>
        </p:nvSpPr>
        <p:spPr>
          <a:xfrm>
            <a:off x="521110" y="3429000"/>
            <a:ext cx="30971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400">
                <a:latin typeface="Arial" panose="020B0604020202020204" pitchFamily="34" charset="0"/>
                <a:cs typeface="Arial" panose="020B0604020202020204" pitchFamily="34" charset="0"/>
              </a:rPr>
              <a:t>Example: </a:t>
            </a:r>
            <a:endParaRPr lang="zh-TW" altLang="en-US" sz="2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688820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EBAEEC-72AC-351A-421B-C1910F2A8E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FBA40D14-B996-9EDB-E4C2-83528485C334}"/>
              </a:ext>
            </a:extLst>
          </p:cNvPr>
          <p:cNvSpPr txBox="1"/>
          <p:nvPr/>
        </p:nvSpPr>
        <p:spPr>
          <a:xfrm>
            <a:off x="196649" y="278749"/>
            <a:ext cx="1186753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>
                <a:solidFill>
                  <a:srgbClr val="FF0000"/>
                </a:solidFill>
              </a:rPr>
              <a:t>fileInput</a:t>
            </a:r>
            <a:r>
              <a:rPr lang="en-US" altLang="zh-TW" i="0">
                <a:solidFill>
                  <a:srgbClr val="000000"/>
                </a:solidFill>
                <a:effectLst/>
              </a:rPr>
              <a:t>:</a:t>
            </a:r>
            <a:r>
              <a:rPr lang="zh-TW" altLang="en-US" i="0">
                <a:solidFill>
                  <a:srgbClr val="000000"/>
                </a:solidFill>
                <a:effectLst/>
              </a:rPr>
              <a:t> </a:t>
            </a:r>
            <a:endParaRPr lang="en-US" altLang="zh-TW">
              <a:solidFill>
                <a:srgbClr val="000000"/>
              </a:solidFill>
              <a:latin typeface="Arial" panose="020B0604020202020204" pitchFamily="34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>
                <a:solidFill>
                  <a:srgbClr val="000000"/>
                </a:solidFill>
              </a:rPr>
              <a:t>inputId: </a:t>
            </a:r>
            <a:r>
              <a:rPr lang="zh-TW" altLang="zh-TW">
                <a:latin typeface="Arial" panose="020B0604020202020204" pitchFamily="34" charset="0"/>
                <a:cs typeface="Arial" panose="020B0604020202020204" pitchFamily="34" charset="0"/>
              </a:rPr>
              <a:t>The input slot that will be used to access the value.</a:t>
            </a:r>
            <a:endParaRPr lang="en-US" altLang="zh-TW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>
                <a:solidFill>
                  <a:srgbClr val="000000"/>
                </a:solidFill>
              </a:rPr>
              <a:t>label: </a:t>
            </a:r>
            <a:r>
              <a:rPr lang="zh-TW" altLang="en-US">
                <a:solidFill>
                  <a:srgbClr val="000000"/>
                </a:solidFill>
              </a:rPr>
              <a:t>標題 </a:t>
            </a:r>
            <a:r>
              <a:rPr lang="zh-TW" altLang="zh-TW">
                <a:latin typeface="Arial" panose="020B0604020202020204" pitchFamily="34" charset="0"/>
                <a:cs typeface="Arial" panose="020B0604020202020204" pitchFamily="34" charset="0"/>
              </a:rPr>
              <a:t>Display label for the control</a:t>
            </a:r>
            <a:r>
              <a:rPr lang="en-US" altLang="zh-TW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en-US" altLang="zh-TW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>
                <a:solidFill>
                  <a:srgbClr val="000000"/>
                </a:solidFill>
              </a:rPr>
              <a:t>value: </a:t>
            </a:r>
            <a:r>
              <a:rPr lang="zh-TW" altLang="en-US">
                <a:solidFill>
                  <a:srgbClr val="000000"/>
                </a:solidFill>
              </a:rPr>
              <a:t>初始值 </a:t>
            </a:r>
            <a:r>
              <a:rPr lang="zh-TW" altLang="zh-TW">
                <a:latin typeface="Arial" panose="020B0604020202020204" pitchFamily="34" charset="0"/>
                <a:cs typeface="Arial" panose="020B0604020202020204" pitchFamily="34" charset="0"/>
              </a:rPr>
              <a:t>Initial value.</a:t>
            </a:r>
            <a:endParaRPr lang="en-US" altLang="zh-TW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921EB90A-1652-8947-21EA-EFB2AF8E7B36}"/>
              </a:ext>
            </a:extLst>
          </p:cNvPr>
          <p:cNvSpPr txBox="1"/>
          <p:nvPr/>
        </p:nvSpPr>
        <p:spPr>
          <a:xfrm>
            <a:off x="521109" y="4220048"/>
            <a:ext cx="107368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>
                <a:solidFill>
                  <a:srgbClr val="FF0000"/>
                </a:solidFill>
              </a:rPr>
              <a:t>fileInput</a:t>
            </a:r>
            <a:r>
              <a:rPr lang="zh-TW" altLang="zh-TW"/>
              <a:t>(</a:t>
            </a:r>
            <a:r>
              <a:rPr lang="en-US" altLang="zh-TW"/>
              <a:t>inputId = </a:t>
            </a:r>
            <a:r>
              <a:rPr lang="zh-TW" altLang="zh-TW"/>
              <a:t>"name", </a:t>
            </a:r>
            <a:r>
              <a:rPr lang="en-US" altLang="zh-TW"/>
              <a:t>label = </a:t>
            </a:r>
            <a:r>
              <a:rPr lang="zh-TW" altLang="zh-TW"/>
              <a:t>"Your full name", value = "John Smith")</a:t>
            </a:r>
            <a:endParaRPr lang="zh-TW" altLang="en-US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DEC1CDF0-2F7B-3998-CF8B-7152111791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92697" y="4855602"/>
            <a:ext cx="4206605" cy="1089754"/>
          </a:xfrm>
          <a:prstGeom prst="rect">
            <a:avLst/>
          </a:prstGeom>
        </p:spPr>
      </p:pic>
      <p:sp>
        <p:nvSpPr>
          <p:cNvPr id="19" name="文字方塊 18">
            <a:extLst>
              <a:ext uri="{FF2B5EF4-FFF2-40B4-BE49-F238E27FC236}">
                <a16:creationId xmlns:a16="http://schemas.microsoft.com/office/drawing/2014/main" id="{CE53DA03-D6B9-03A0-076C-55DA07FB3E87}"/>
              </a:ext>
            </a:extLst>
          </p:cNvPr>
          <p:cNvSpPr txBox="1"/>
          <p:nvPr/>
        </p:nvSpPr>
        <p:spPr>
          <a:xfrm>
            <a:off x="521110" y="3429000"/>
            <a:ext cx="30971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400">
                <a:latin typeface="Arial" panose="020B0604020202020204" pitchFamily="34" charset="0"/>
                <a:cs typeface="Arial" panose="020B0604020202020204" pitchFamily="34" charset="0"/>
              </a:rPr>
              <a:t>Example: </a:t>
            </a:r>
            <a:endParaRPr lang="zh-TW" altLang="en-US" sz="2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476649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191584-B73A-2264-60D2-9906AA8FEE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8E5C9E97-906A-531B-CCD4-8E7B313AA44C}"/>
              </a:ext>
            </a:extLst>
          </p:cNvPr>
          <p:cNvSpPr txBox="1"/>
          <p:nvPr/>
        </p:nvSpPr>
        <p:spPr>
          <a:xfrm>
            <a:off x="196649" y="278749"/>
            <a:ext cx="1186753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>
                <a:solidFill>
                  <a:srgbClr val="FF0000"/>
                </a:solidFill>
              </a:rPr>
              <a:t>selectInput</a:t>
            </a:r>
            <a:r>
              <a:rPr lang="en-US" altLang="zh-TW" i="0">
                <a:solidFill>
                  <a:srgbClr val="000000"/>
                </a:solidFill>
                <a:effectLst/>
              </a:rPr>
              <a:t>:</a:t>
            </a:r>
            <a:r>
              <a:rPr lang="zh-TW" altLang="en-US" i="0">
                <a:solidFill>
                  <a:srgbClr val="000000"/>
                </a:solidFill>
                <a:effectLst/>
              </a:rPr>
              <a:t> </a:t>
            </a:r>
            <a:endParaRPr lang="en-US" altLang="zh-TW">
              <a:solidFill>
                <a:srgbClr val="000000"/>
              </a:solidFill>
              <a:latin typeface="Arial" panose="020B0604020202020204" pitchFamily="34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>
                <a:solidFill>
                  <a:srgbClr val="000000"/>
                </a:solidFill>
              </a:rPr>
              <a:t>inputId: </a:t>
            </a:r>
            <a:r>
              <a:rPr lang="zh-TW" altLang="zh-TW">
                <a:latin typeface="Arial" panose="020B0604020202020204" pitchFamily="34" charset="0"/>
                <a:cs typeface="Arial" panose="020B0604020202020204" pitchFamily="34" charset="0"/>
              </a:rPr>
              <a:t>The input slot that will be used to access the value.</a:t>
            </a:r>
            <a:endParaRPr lang="en-US" altLang="zh-TW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>
                <a:solidFill>
                  <a:srgbClr val="000000"/>
                </a:solidFill>
              </a:rPr>
              <a:t>label: </a:t>
            </a:r>
            <a:r>
              <a:rPr lang="zh-TW" altLang="en-US">
                <a:solidFill>
                  <a:srgbClr val="000000"/>
                </a:solidFill>
              </a:rPr>
              <a:t>標題 </a:t>
            </a:r>
            <a:r>
              <a:rPr lang="zh-TW" altLang="zh-TW">
                <a:latin typeface="Arial" panose="020B0604020202020204" pitchFamily="34" charset="0"/>
                <a:cs typeface="Arial" panose="020B0604020202020204" pitchFamily="34" charset="0"/>
              </a:rPr>
              <a:t>Display label for the control</a:t>
            </a:r>
            <a:r>
              <a:rPr lang="en-US" altLang="zh-TW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en-US" altLang="zh-TW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>
                <a:solidFill>
                  <a:srgbClr val="000000"/>
                </a:solidFill>
              </a:rPr>
              <a:t>value: </a:t>
            </a:r>
            <a:r>
              <a:rPr lang="zh-TW" altLang="en-US">
                <a:solidFill>
                  <a:srgbClr val="000000"/>
                </a:solidFill>
              </a:rPr>
              <a:t>初始值 </a:t>
            </a:r>
            <a:r>
              <a:rPr lang="zh-TW" altLang="zh-TW">
                <a:latin typeface="Arial" panose="020B0604020202020204" pitchFamily="34" charset="0"/>
                <a:cs typeface="Arial" panose="020B0604020202020204" pitchFamily="34" charset="0"/>
              </a:rPr>
              <a:t>Initial value.</a:t>
            </a:r>
            <a:endParaRPr lang="en-US" altLang="zh-TW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1BC3CB37-C489-F12B-25DB-08AAA4230C3F}"/>
              </a:ext>
            </a:extLst>
          </p:cNvPr>
          <p:cNvSpPr txBox="1"/>
          <p:nvPr/>
        </p:nvSpPr>
        <p:spPr>
          <a:xfrm>
            <a:off x="521109" y="4220048"/>
            <a:ext cx="107368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>
                <a:solidFill>
                  <a:srgbClr val="FF0000"/>
                </a:solidFill>
              </a:rPr>
              <a:t>selectInput</a:t>
            </a:r>
            <a:r>
              <a:rPr lang="zh-TW" altLang="zh-TW"/>
              <a:t>(</a:t>
            </a:r>
            <a:r>
              <a:rPr lang="en-US" altLang="zh-TW"/>
              <a:t>inputId = </a:t>
            </a:r>
            <a:r>
              <a:rPr lang="zh-TW" altLang="zh-TW"/>
              <a:t>"name", </a:t>
            </a:r>
            <a:r>
              <a:rPr lang="en-US" altLang="zh-TW"/>
              <a:t>label = </a:t>
            </a:r>
            <a:r>
              <a:rPr lang="zh-TW" altLang="zh-TW"/>
              <a:t>"Your full name", value = "John Smith")</a:t>
            </a:r>
            <a:endParaRPr lang="zh-TW" altLang="en-US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052AB2CA-1CA4-B0F8-F7B6-8D200AE77F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92697" y="4855602"/>
            <a:ext cx="4206605" cy="1089754"/>
          </a:xfrm>
          <a:prstGeom prst="rect">
            <a:avLst/>
          </a:prstGeom>
        </p:spPr>
      </p:pic>
      <p:sp>
        <p:nvSpPr>
          <p:cNvPr id="19" name="文字方塊 18">
            <a:extLst>
              <a:ext uri="{FF2B5EF4-FFF2-40B4-BE49-F238E27FC236}">
                <a16:creationId xmlns:a16="http://schemas.microsoft.com/office/drawing/2014/main" id="{581C790A-BA5E-6DC1-6A10-09CCB900C60F}"/>
              </a:ext>
            </a:extLst>
          </p:cNvPr>
          <p:cNvSpPr txBox="1"/>
          <p:nvPr/>
        </p:nvSpPr>
        <p:spPr>
          <a:xfrm>
            <a:off x="521110" y="3429000"/>
            <a:ext cx="30971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400">
                <a:latin typeface="Arial" panose="020B0604020202020204" pitchFamily="34" charset="0"/>
                <a:cs typeface="Arial" panose="020B0604020202020204" pitchFamily="34" charset="0"/>
              </a:rPr>
              <a:t>Example: </a:t>
            </a:r>
            <a:endParaRPr lang="zh-TW" altLang="en-US" sz="2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671303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0D0109-7A52-1201-C676-A4B5EDBD78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8D446CD3-07FB-C3E7-748D-42DB12842FC2}"/>
              </a:ext>
            </a:extLst>
          </p:cNvPr>
          <p:cNvSpPr txBox="1"/>
          <p:nvPr/>
        </p:nvSpPr>
        <p:spPr>
          <a:xfrm>
            <a:off x="196649" y="278749"/>
            <a:ext cx="1186753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>
                <a:solidFill>
                  <a:srgbClr val="FF0000"/>
                </a:solidFill>
              </a:rPr>
              <a:t>selectizeInput</a:t>
            </a:r>
            <a:r>
              <a:rPr lang="en-US" altLang="zh-TW" i="0">
                <a:solidFill>
                  <a:srgbClr val="000000"/>
                </a:solidFill>
                <a:effectLst/>
              </a:rPr>
              <a:t>:</a:t>
            </a:r>
            <a:r>
              <a:rPr lang="zh-TW" altLang="en-US" i="0">
                <a:solidFill>
                  <a:srgbClr val="000000"/>
                </a:solidFill>
                <a:effectLst/>
              </a:rPr>
              <a:t> </a:t>
            </a:r>
            <a:endParaRPr lang="en-US" altLang="zh-TW">
              <a:solidFill>
                <a:srgbClr val="000000"/>
              </a:solidFill>
              <a:latin typeface="Arial" panose="020B0604020202020204" pitchFamily="34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>
                <a:solidFill>
                  <a:srgbClr val="000000"/>
                </a:solidFill>
              </a:rPr>
              <a:t>inputId: </a:t>
            </a:r>
            <a:r>
              <a:rPr lang="zh-TW" altLang="zh-TW">
                <a:latin typeface="Arial" panose="020B0604020202020204" pitchFamily="34" charset="0"/>
                <a:cs typeface="Arial" panose="020B0604020202020204" pitchFamily="34" charset="0"/>
              </a:rPr>
              <a:t>The input slot that will be used to access the value.</a:t>
            </a:r>
            <a:endParaRPr lang="en-US" altLang="zh-TW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>
                <a:solidFill>
                  <a:srgbClr val="000000"/>
                </a:solidFill>
              </a:rPr>
              <a:t>label: </a:t>
            </a:r>
            <a:r>
              <a:rPr lang="zh-TW" altLang="en-US">
                <a:solidFill>
                  <a:srgbClr val="000000"/>
                </a:solidFill>
              </a:rPr>
              <a:t>標題 </a:t>
            </a:r>
            <a:r>
              <a:rPr lang="zh-TW" altLang="zh-TW">
                <a:latin typeface="Arial" panose="020B0604020202020204" pitchFamily="34" charset="0"/>
                <a:cs typeface="Arial" panose="020B0604020202020204" pitchFamily="34" charset="0"/>
              </a:rPr>
              <a:t>Display label for the control</a:t>
            </a:r>
            <a:r>
              <a:rPr lang="en-US" altLang="zh-TW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en-US" altLang="zh-TW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>
                <a:solidFill>
                  <a:srgbClr val="000000"/>
                </a:solidFill>
              </a:rPr>
              <a:t>value: </a:t>
            </a:r>
            <a:r>
              <a:rPr lang="zh-TW" altLang="en-US">
                <a:solidFill>
                  <a:srgbClr val="000000"/>
                </a:solidFill>
              </a:rPr>
              <a:t>初始值 </a:t>
            </a:r>
            <a:r>
              <a:rPr lang="zh-TW" altLang="zh-TW">
                <a:latin typeface="Arial" panose="020B0604020202020204" pitchFamily="34" charset="0"/>
                <a:cs typeface="Arial" panose="020B0604020202020204" pitchFamily="34" charset="0"/>
              </a:rPr>
              <a:t>Initial value.</a:t>
            </a:r>
            <a:endParaRPr lang="en-US" altLang="zh-TW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CF4322A7-B279-FCCC-C1F9-5D56AC5B0709}"/>
              </a:ext>
            </a:extLst>
          </p:cNvPr>
          <p:cNvSpPr txBox="1"/>
          <p:nvPr/>
        </p:nvSpPr>
        <p:spPr>
          <a:xfrm>
            <a:off x="521109" y="4220048"/>
            <a:ext cx="107368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>
                <a:solidFill>
                  <a:srgbClr val="FF0000"/>
                </a:solidFill>
              </a:rPr>
              <a:t>selectizeInput</a:t>
            </a:r>
            <a:r>
              <a:rPr lang="zh-TW" altLang="zh-TW"/>
              <a:t>(</a:t>
            </a:r>
            <a:r>
              <a:rPr lang="en-US" altLang="zh-TW"/>
              <a:t>inputId = </a:t>
            </a:r>
            <a:r>
              <a:rPr lang="zh-TW" altLang="zh-TW"/>
              <a:t>"name", </a:t>
            </a:r>
            <a:r>
              <a:rPr lang="en-US" altLang="zh-TW"/>
              <a:t>label = </a:t>
            </a:r>
            <a:r>
              <a:rPr lang="zh-TW" altLang="zh-TW"/>
              <a:t>"Your full name", value = "John Smith")</a:t>
            </a:r>
            <a:endParaRPr lang="zh-TW" altLang="en-US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A9AA0EA3-8DC4-A93C-F1E7-4046AED82B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92697" y="4855602"/>
            <a:ext cx="4206605" cy="1089754"/>
          </a:xfrm>
          <a:prstGeom prst="rect">
            <a:avLst/>
          </a:prstGeom>
        </p:spPr>
      </p:pic>
      <p:sp>
        <p:nvSpPr>
          <p:cNvPr id="19" name="文字方塊 18">
            <a:extLst>
              <a:ext uri="{FF2B5EF4-FFF2-40B4-BE49-F238E27FC236}">
                <a16:creationId xmlns:a16="http://schemas.microsoft.com/office/drawing/2014/main" id="{78B2264A-3973-697F-7A51-AB8FB2A27373}"/>
              </a:ext>
            </a:extLst>
          </p:cNvPr>
          <p:cNvSpPr txBox="1"/>
          <p:nvPr/>
        </p:nvSpPr>
        <p:spPr>
          <a:xfrm>
            <a:off x="521110" y="3429000"/>
            <a:ext cx="30971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400">
                <a:latin typeface="Arial" panose="020B0604020202020204" pitchFamily="34" charset="0"/>
                <a:cs typeface="Arial" panose="020B0604020202020204" pitchFamily="34" charset="0"/>
              </a:rPr>
              <a:t>Example: </a:t>
            </a:r>
            <a:endParaRPr lang="zh-TW" altLang="en-US" sz="2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224288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7410D7-52B2-9F05-B47C-DFD04D7BFA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9E0DF1B7-5B82-D538-22EA-333EEF722AD0}"/>
              </a:ext>
            </a:extLst>
          </p:cNvPr>
          <p:cNvSpPr txBox="1"/>
          <p:nvPr/>
        </p:nvSpPr>
        <p:spPr>
          <a:xfrm>
            <a:off x="196649" y="278749"/>
            <a:ext cx="1186753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>
                <a:solidFill>
                  <a:srgbClr val="FF0000"/>
                </a:solidFill>
              </a:rPr>
              <a:t>radioButtons</a:t>
            </a:r>
            <a:r>
              <a:rPr lang="en-US" altLang="zh-TW" i="0">
                <a:solidFill>
                  <a:srgbClr val="000000"/>
                </a:solidFill>
                <a:effectLst/>
              </a:rPr>
              <a:t>:</a:t>
            </a:r>
            <a:r>
              <a:rPr lang="zh-TW" altLang="en-US" i="0">
                <a:solidFill>
                  <a:srgbClr val="000000"/>
                </a:solidFill>
                <a:effectLst/>
              </a:rPr>
              <a:t> 單選按鈕</a:t>
            </a:r>
            <a:endParaRPr lang="en-US" altLang="zh-TW">
              <a:solidFill>
                <a:srgbClr val="000000"/>
              </a:solidFill>
              <a:latin typeface="Arial" panose="020B0604020202020204" pitchFamily="34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>
                <a:solidFill>
                  <a:srgbClr val="000000"/>
                </a:solidFill>
              </a:rPr>
              <a:t>inputId: </a:t>
            </a:r>
            <a:r>
              <a:rPr lang="zh-TW" altLang="zh-TW">
                <a:latin typeface="Arial" panose="020B0604020202020204" pitchFamily="34" charset="0"/>
                <a:cs typeface="Arial" panose="020B0604020202020204" pitchFamily="34" charset="0"/>
              </a:rPr>
              <a:t>The input slot that will be used to access the value.</a:t>
            </a:r>
            <a:endParaRPr lang="en-US" altLang="zh-TW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>
                <a:solidFill>
                  <a:srgbClr val="000000"/>
                </a:solidFill>
              </a:rPr>
              <a:t>label: </a:t>
            </a:r>
            <a:r>
              <a:rPr lang="zh-TW" altLang="en-US">
                <a:solidFill>
                  <a:srgbClr val="000000"/>
                </a:solidFill>
              </a:rPr>
              <a:t>標題 </a:t>
            </a:r>
            <a:r>
              <a:rPr lang="zh-TW" altLang="zh-TW">
                <a:latin typeface="Arial" panose="020B0604020202020204" pitchFamily="34" charset="0"/>
                <a:cs typeface="Arial" panose="020B0604020202020204" pitchFamily="34" charset="0"/>
              </a:rPr>
              <a:t>Display label for the control</a:t>
            </a:r>
            <a:r>
              <a:rPr lang="en-US" altLang="zh-TW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en-US" altLang="zh-TW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>
                <a:solidFill>
                  <a:srgbClr val="000000"/>
                </a:solidFill>
              </a:rPr>
              <a:t>value: </a:t>
            </a:r>
            <a:r>
              <a:rPr lang="zh-TW" altLang="en-US">
                <a:solidFill>
                  <a:srgbClr val="000000"/>
                </a:solidFill>
              </a:rPr>
              <a:t>初始值 </a:t>
            </a:r>
            <a:r>
              <a:rPr lang="zh-TW" altLang="zh-TW">
                <a:latin typeface="Arial" panose="020B0604020202020204" pitchFamily="34" charset="0"/>
                <a:cs typeface="Arial" panose="020B0604020202020204" pitchFamily="34" charset="0"/>
              </a:rPr>
              <a:t>Initial value.</a:t>
            </a:r>
            <a:endParaRPr lang="en-US" altLang="zh-TW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2F424D13-2695-86ED-B341-BFC7F7D91FDF}"/>
              </a:ext>
            </a:extLst>
          </p:cNvPr>
          <p:cNvSpPr txBox="1"/>
          <p:nvPr/>
        </p:nvSpPr>
        <p:spPr>
          <a:xfrm>
            <a:off x="521109" y="4220048"/>
            <a:ext cx="107368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>
                <a:solidFill>
                  <a:srgbClr val="FF0000"/>
                </a:solidFill>
              </a:rPr>
              <a:t>radioButtons</a:t>
            </a:r>
            <a:r>
              <a:rPr lang="zh-TW" altLang="zh-TW"/>
              <a:t>(</a:t>
            </a:r>
            <a:r>
              <a:rPr lang="en-US" altLang="zh-TW"/>
              <a:t>inputId = </a:t>
            </a:r>
            <a:r>
              <a:rPr lang="zh-TW" altLang="zh-TW"/>
              <a:t>"name", </a:t>
            </a:r>
            <a:r>
              <a:rPr lang="en-US" altLang="zh-TW"/>
              <a:t>label = </a:t>
            </a:r>
            <a:r>
              <a:rPr lang="zh-TW" altLang="zh-TW"/>
              <a:t>"Your full name", value = "John Smith")</a:t>
            </a:r>
            <a:endParaRPr lang="zh-TW" altLang="en-US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1C8087C3-1004-470C-70DF-DAA680B3FA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92697" y="4855602"/>
            <a:ext cx="4206605" cy="1089754"/>
          </a:xfrm>
          <a:prstGeom prst="rect">
            <a:avLst/>
          </a:prstGeom>
        </p:spPr>
      </p:pic>
      <p:sp>
        <p:nvSpPr>
          <p:cNvPr id="19" name="文字方塊 18">
            <a:extLst>
              <a:ext uri="{FF2B5EF4-FFF2-40B4-BE49-F238E27FC236}">
                <a16:creationId xmlns:a16="http://schemas.microsoft.com/office/drawing/2014/main" id="{D03EB10D-7135-FE75-CE80-3D40AC68EA5B}"/>
              </a:ext>
            </a:extLst>
          </p:cNvPr>
          <p:cNvSpPr txBox="1"/>
          <p:nvPr/>
        </p:nvSpPr>
        <p:spPr>
          <a:xfrm>
            <a:off x="521110" y="3429000"/>
            <a:ext cx="30971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400">
                <a:latin typeface="Arial" panose="020B0604020202020204" pitchFamily="34" charset="0"/>
                <a:cs typeface="Arial" panose="020B0604020202020204" pitchFamily="34" charset="0"/>
              </a:rPr>
              <a:t>Example: </a:t>
            </a:r>
            <a:endParaRPr lang="zh-TW" altLang="en-US" sz="2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697026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0EC2EF-FDAC-5FC0-4370-4B9AF6D560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748A6213-37E5-656C-0FFA-04654134C745}"/>
              </a:ext>
            </a:extLst>
          </p:cNvPr>
          <p:cNvSpPr txBox="1"/>
          <p:nvPr/>
        </p:nvSpPr>
        <p:spPr>
          <a:xfrm>
            <a:off x="196649" y="278749"/>
            <a:ext cx="1186753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>
                <a:solidFill>
                  <a:srgbClr val="FF0000"/>
                </a:solidFill>
              </a:rPr>
              <a:t>checkboxGroupInput</a:t>
            </a:r>
            <a:r>
              <a:rPr lang="en-US" altLang="zh-TW" i="0">
                <a:solidFill>
                  <a:srgbClr val="000000"/>
                </a:solidFill>
                <a:effectLst/>
              </a:rPr>
              <a:t>:</a:t>
            </a:r>
            <a:r>
              <a:rPr lang="zh-TW" altLang="en-US" i="0">
                <a:solidFill>
                  <a:srgbClr val="000000"/>
                </a:solidFill>
                <a:effectLst/>
              </a:rPr>
              <a:t> </a:t>
            </a:r>
            <a:r>
              <a:rPr lang="zh-TW" altLang="en-US">
                <a:solidFill>
                  <a:srgbClr val="000000"/>
                </a:solidFill>
              </a:rPr>
              <a:t>多</a:t>
            </a:r>
            <a:r>
              <a:rPr lang="zh-TW" altLang="en-US" i="0">
                <a:solidFill>
                  <a:srgbClr val="000000"/>
                </a:solidFill>
                <a:effectLst/>
              </a:rPr>
              <a:t>選按鈕</a:t>
            </a:r>
            <a:endParaRPr lang="en-US" altLang="zh-TW">
              <a:solidFill>
                <a:srgbClr val="000000"/>
              </a:solidFill>
              <a:latin typeface="Arial" panose="020B0604020202020204" pitchFamily="34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>
                <a:solidFill>
                  <a:srgbClr val="000000"/>
                </a:solidFill>
              </a:rPr>
              <a:t>inputId: </a:t>
            </a:r>
            <a:r>
              <a:rPr lang="zh-TW" altLang="zh-TW">
                <a:latin typeface="Arial" panose="020B0604020202020204" pitchFamily="34" charset="0"/>
                <a:cs typeface="Arial" panose="020B0604020202020204" pitchFamily="34" charset="0"/>
              </a:rPr>
              <a:t>The input slot that will be used to access the value.</a:t>
            </a:r>
            <a:endParaRPr lang="en-US" altLang="zh-TW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>
                <a:solidFill>
                  <a:srgbClr val="000000"/>
                </a:solidFill>
              </a:rPr>
              <a:t>label: </a:t>
            </a:r>
            <a:r>
              <a:rPr lang="zh-TW" altLang="en-US">
                <a:solidFill>
                  <a:srgbClr val="000000"/>
                </a:solidFill>
              </a:rPr>
              <a:t>標題 </a:t>
            </a:r>
            <a:r>
              <a:rPr lang="zh-TW" altLang="zh-TW">
                <a:latin typeface="Arial" panose="020B0604020202020204" pitchFamily="34" charset="0"/>
                <a:cs typeface="Arial" panose="020B0604020202020204" pitchFamily="34" charset="0"/>
              </a:rPr>
              <a:t>Display label for the control</a:t>
            </a:r>
            <a:r>
              <a:rPr lang="en-US" altLang="zh-TW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en-US" altLang="zh-TW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>
                <a:solidFill>
                  <a:srgbClr val="000000"/>
                </a:solidFill>
              </a:rPr>
              <a:t>value: </a:t>
            </a:r>
            <a:r>
              <a:rPr lang="zh-TW" altLang="en-US">
                <a:solidFill>
                  <a:srgbClr val="000000"/>
                </a:solidFill>
              </a:rPr>
              <a:t>初始值 </a:t>
            </a:r>
            <a:r>
              <a:rPr lang="zh-TW" altLang="zh-TW">
                <a:latin typeface="Arial" panose="020B0604020202020204" pitchFamily="34" charset="0"/>
                <a:cs typeface="Arial" panose="020B0604020202020204" pitchFamily="34" charset="0"/>
              </a:rPr>
              <a:t>Initial value.</a:t>
            </a:r>
            <a:endParaRPr lang="en-US" altLang="zh-TW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BFF7127E-55B3-9CD6-7AD5-5AA726DEE375}"/>
              </a:ext>
            </a:extLst>
          </p:cNvPr>
          <p:cNvSpPr txBox="1"/>
          <p:nvPr/>
        </p:nvSpPr>
        <p:spPr>
          <a:xfrm>
            <a:off x="521109" y="4220048"/>
            <a:ext cx="107368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>
                <a:solidFill>
                  <a:srgbClr val="FF0000"/>
                </a:solidFill>
              </a:rPr>
              <a:t>checkboxGroupInput</a:t>
            </a:r>
            <a:r>
              <a:rPr lang="zh-TW" altLang="zh-TW"/>
              <a:t>(</a:t>
            </a:r>
            <a:r>
              <a:rPr lang="en-US" altLang="zh-TW"/>
              <a:t>inputId = </a:t>
            </a:r>
            <a:r>
              <a:rPr lang="zh-TW" altLang="zh-TW"/>
              <a:t>"name", </a:t>
            </a:r>
            <a:r>
              <a:rPr lang="en-US" altLang="zh-TW"/>
              <a:t>label = </a:t>
            </a:r>
            <a:r>
              <a:rPr lang="zh-TW" altLang="zh-TW"/>
              <a:t>"Your full name", value = "John Smith")</a:t>
            </a:r>
            <a:endParaRPr lang="zh-TW" altLang="en-US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DDF4075E-6887-A41C-D648-FEE27E49F0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92697" y="4855602"/>
            <a:ext cx="4206605" cy="1089754"/>
          </a:xfrm>
          <a:prstGeom prst="rect">
            <a:avLst/>
          </a:prstGeom>
        </p:spPr>
      </p:pic>
      <p:sp>
        <p:nvSpPr>
          <p:cNvPr id="19" name="文字方塊 18">
            <a:extLst>
              <a:ext uri="{FF2B5EF4-FFF2-40B4-BE49-F238E27FC236}">
                <a16:creationId xmlns:a16="http://schemas.microsoft.com/office/drawing/2014/main" id="{BFC8AB28-CA8E-2D5A-DC67-2DBAADB03234}"/>
              </a:ext>
            </a:extLst>
          </p:cNvPr>
          <p:cNvSpPr txBox="1"/>
          <p:nvPr/>
        </p:nvSpPr>
        <p:spPr>
          <a:xfrm>
            <a:off x="521110" y="3429000"/>
            <a:ext cx="30971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400">
                <a:latin typeface="Arial" panose="020B0604020202020204" pitchFamily="34" charset="0"/>
                <a:cs typeface="Arial" panose="020B0604020202020204" pitchFamily="34" charset="0"/>
              </a:rPr>
              <a:t>Example: </a:t>
            </a:r>
            <a:endParaRPr lang="zh-TW" altLang="en-US" sz="2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602755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15979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微軟正黑體+Consolas (程式碼)">
      <a:majorFont>
        <a:latin typeface="Consolas"/>
        <a:ea typeface="微軟正黑體"/>
        <a:cs typeface=""/>
      </a:majorFont>
      <a:minorFont>
        <a:latin typeface="Consolas"/>
        <a:ea typeface="微軟正黑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562</TotalTime>
  <Words>803</Words>
  <Application>Microsoft Office PowerPoint</Application>
  <PresentationFormat>寬螢幕</PresentationFormat>
  <Paragraphs>96</Paragraphs>
  <Slides>15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2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15</vt:i4>
      </vt:variant>
    </vt:vector>
  </HeadingPairs>
  <TitlesOfParts>
    <vt:vector size="18" baseType="lpstr">
      <vt:lpstr>Arial</vt:lpstr>
      <vt:lpstr>Consolas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宗祐 李</dc:creator>
  <cp:lastModifiedBy>宗祐 李</cp:lastModifiedBy>
  <cp:revision>9</cp:revision>
  <dcterms:created xsi:type="dcterms:W3CDTF">2026-06-11T06:09:16Z</dcterms:created>
  <dcterms:modified xsi:type="dcterms:W3CDTF">2026-06-12T05:58:32Z</dcterms:modified>
</cp:coreProperties>
</file>